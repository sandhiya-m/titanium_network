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Hj96c8WK67V7oQv/68M3R8ID8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73D9FE-BDC4-40B4-A7A2-8061FF2EE775}">
  <a:tblStyle styleId="{F673D9FE-BDC4-40B4-A7A2-8061FF2EE77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A393B9B8-25ED-4704-9383-6692835DDD55}" styleName="Table_1">
    <a:wholeTbl>
      <a:tcTxStyle b="off" i="off">
        <a:font>
          <a:latin typeface="Calibri"/>
          <a:ea typeface="Calibri"/>
          <a:cs typeface="Calibri"/>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23DCDED-4CDC-40B4-A735-F9C09451C1B8}"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88FF26F-4CDD-4A5F-8F9D-C8E00F17BEBF}" styleName="Table_3">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792aad3aa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g2792aad3a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a98e909c6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g2a98e909c6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c6a5eee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g24c6a5eee9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98e909c6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a98e909c6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a98e909c6d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a98e909c6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a98e909c6d_0_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98e909c6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a98e909c6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a98e909c6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98e909c6d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98e909c6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4c6a5eee9c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g24c6a5eee9c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6165d23a78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g26165d23a78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9f3322158f_3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g29f3322158f_3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905ebad16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2905ebad16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615e346e5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g2615e346e51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9f3322158f_3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g29f3322158f_3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ab6901374b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 name="Google Shape;213;g2ab6901374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6165d23a7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g26165d23a78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074b0f0c4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29074b0f0c4_1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6"/>
          <p:cNvSpPr>
            <a:spLocks noGrp="1"/>
          </p:cNvSpPr>
          <p:nvPr>
            <p:ph type="pic" idx="2"/>
          </p:nvPr>
        </p:nvSpPr>
        <p:spPr>
          <a:xfrm>
            <a:off x="5183188" y="987425"/>
            <a:ext cx="6172200" cy="4873625"/>
          </a:xfrm>
          <a:prstGeom prst="rect">
            <a:avLst/>
          </a:prstGeom>
          <a:noFill/>
          <a:ln>
            <a:noFill/>
          </a:ln>
        </p:spPr>
      </p:sp>
      <p:sp>
        <p:nvSpPr>
          <p:cNvPr id="64" name="Google Shape;6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00450" y="257050"/>
            <a:ext cx="12535200" cy="20460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3600"/>
              <a:buFont typeface="Times New Roman"/>
              <a:buNone/>
            </a:pPr>
            <a:r>
              <a:rPr lang="en-IN" sz="3000">
                <a:latin typeface="Times New Roman"/>
                <a:ea typeface="Times New Roman"/>
                <a:cs typeface="Times New Roman"/>
                <a:sym typeface="Times New Roman"/>
              </a:rPr>
              <a:t>	</a:t>
            </a:r>
            <a:r>
              <a:rPr lang="en-IN" sz="2800">
                <a:latin typeface="Times New Roman"/>
                <a:ea typeface="Times New Roman"/>
                <a:cs typeface="Times New Roman"/>
                <a:sym typeface="Times New Roman"/>
              </a:rPr>
              <a:t>IT5712 - PROJECT 1</a:t>
            </a:r>
            <a:endParaRPr sz="2800">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3600"/>
              <a:buFont typeface="Times New Roman"/>
              <a:buNone/>
            </a:pPr>
            <a:endParaRPr sz="3300">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3600"/>
              <a:buFont typeface="Times New Roman"/>
              <a:buNone/>
            </a:pPr>
            <a:r>
              <a:rPr lang="en-IN" sz="3500" b="1">
                <a:latin typeface="Times New Roman"/>
                <a:ea typeface="Times New Roman"/>
                <a:cs typeface="Times New Roman"/>
                <a:sym typeface="Times New Roman"/>
              </a:rPr>
              <a:t>SELF-SERVICED MEDICAL COMMUNITY WITH BLOCKCHAIN (SMC-BC)</a:t>
            </a:r>
            <a:endParaRPr sz="3500" b="1">
              <a:latin typeface="Times New Roman"/>
              <a:ea typeface="Times New Roman"/>
              <a:cs typeface="Times New Roman"/>
              <a:sym typeface="Times New Roman"/>
            </a:endParaRPr>
          </a:p>
        </p:txBody>
      </p:sp>
      <p:sp>
        <p:nvSpPr>
          <p:cNvPr id="85" name="Google Shape;85;p1"/>
          <p:cNvSpPr txBox="1">
            <a:spLocks noGrp="1"/>
          </p:cNvSpPr>
          <p:nvPr>
            <p:ph type="subTitle" idx="1"/>
          </p:nvPr>
        </p:nvSpPr>
        <p:spPr>
          <a:xfrm>
            <a:off x="1524008" y="5469285"/>
            <a:ext cx="9144000" cy="1188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IN" sz="2700" b="1">
                <a:latin typeface="Times New Roman"/>
                <a:ea typeface="Times New Roman"/>
                <a:cs typeface="Times New Roman"/>
                <a:sym typeface="Times New Roman"/>
              </a:rPr>
              <a:t>Guided by</a:t>
            </a:r>
            <a:endParaRPr sz="2700"/>
          </a:p>
          <a:p>
            <a:pPr marL="0" lvl="0" indent="0" algn="ctr" rtl="0">
              <a:lnSpc>
                <a:spcPct val="90000"/>
              </a:lnSpc>
              <a:spcBef>
                <a:spcPts val="1000"/>
              </a:spcBef>
              <a:spcAft>
                <a:spcPts val="0"/>
              </a:spcAft>
              <a:buClr>
                <a:schemeClr val="dk1"/>
              </a:buClr>
              <a:buSzPts val="2000"/>
              <a:buNone/>
            </a:pPr>
            <a:r>
              <a:rPr lang="en-IN" sz="2500">
                <a:latin typeface="Times New Roman"/>
                <a:ea typeface="Times New Roman"/>
                <a:cs typeface="Times New Roman"/>
                <a:sym typeface="Times New Roman"/>
              </a:rPr>
              <a:t>Dr. M R Sumalatha</a:t>
            </a:r>
            <a:endParaRPr sz="250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a:latin typeface="Times New Roman"/>
              <a:ea typeface="Times New Roman"/>
              <a:cs typeface="Times New Roman"/>
              <a:sym typeface="Times New Roman"/>
            </a:endParaRPr>
          </a:p>
        </p:txBody>
      </p:sp>
      <p:sp>
        <p:nvSpPr>
          <p:cNvPr id="86" name="Google Shape;86;p1"/>
          <p:cNvSpPr txBox="1"/>
          <p:nvPr/>
        </p:nvSpPr>
        <p:spPr>
          <a:xfrm>
            <a:off x="1273363" y="2400150"/>
            <a:ext cx="10015800" cy="1674900"/>
          </a:xfrm>
          <a:prstGeom prst="rect">
            <a:avLst/>
          </a:prstGeom>
          <a:noFill/>
          <a:ln>
            <a:noFill/>
          </a:ln>
        </p:spPr>
        <p:txBody>
          <a:bodyPr spcFirstLastPara="1" wrap="square" lIns="91425" tIns="45700" rIns="91425" bIns="45700" anchor="t" anchorCtr="0">
            <a:normAutofit/>
          </a:bodyPr>
          <a:lstStyle/>
          <a:p>
            <a:pPr marL="0" marR="0" lvl="0" indent="0" algn="ctr" rtl="0">
              <a:lnSpc>
                <a:spcPct val="150000"/>
              </a:lnSpc>
              <a:spcBef>
                <a:spcPts val="0"/>
              </a:spcBef>
              <a:spcAft>
                <a:spcPts val="0"/>
              </a:spcAft>
              <a:buClr>
                <a:schemeClr val="dk1"/>
              </a:buClr>
              <a:buSzPts val="2400"/>
              <a:buFont typeface="Arial"/>
              <a:buNone/>
            </a:pPr>
            <a:r>
              <a:rPr lang="en-IN" sz="2400" b="0" i="0" u="none" strike="noStrike" cap="none">
                <a:solidFill>
                  <a:schemeClr val="dk1"/>
                </a:solidFill>
                <a:latin typeface="Times New Roman"/>
                <a:ea typeface="Times New Roman"/>
                <a:cs typeface="Times New Roman"/>
                <a:sym typeface="Times New Roman"/>
              </a:rPr>
              <a:t>BATCH - II  TEAM - 2</a:t>
            </a:r>
            <a:endParaRPr sz="2400" b="1" i="0" u="none" strike="noStrike" cap="none">
              <a:solidFill>
                <a:schemeClr val="dk1"/>
              </a:solidFill>
              <a:latin typeface="Times New Roman"/>
              <a:ea typeface="Times New Roman"/>
              <a:cs typeface="Times New Roman"/>
              <a:sym typeface="Times New Roman"/>
            </a:endParaRPr>
          </a:p>
          <a:p>
            <a:pPr marL="0" marR="0" lvl="0" indent="0" algn="ctr" rtl="0">
              <a:lnSpc>
                <a:spcPct val="115000"/>
              </a:lnSpc>
              <a:spcBef>
                <a:spcPts val="0"/>
              </a:spcBef>
              <a:spcAft>
                <a:spcPts val="0"/>
              </a:spcAft>
              <a:buClr>
                <a:schemeClr val="dk1"/>
              </a:buClr>
              <a:buSzPts val="2400"/>
              <a:buFont typeface="Arial"/>
              <a:buNone/>
            </a:pPr>
            <a:r>
              <a:rPr lang="en-IN" sz="2400" b="1" i="0" u="none" strike="noStrike" cap="none">
                <a:solidFill>
                  <a:schemeClr val="dk1"/>
                </a:solidFill>
                <a:latin typeface="Times New Roman"/>
                <a:ea typeface="Times New Roman"/>
                <a:cs typeface="Times New Roman"/>
                <a:sym typeface="Times New Roman"/>
              </a:rPr>
              <a:t>Team Members</a:t>
            </a:r>
            <a:endParaRPr sz="2400" b="1" i="0" u="none" strike="noStrike" cap="none">
              <a:solidFill>
                <a:schemeClr val="dk1"/>
              </a:solidFill>
              <a:latin typeface="Times New Roman"/>
              <a:ea typeface="Times New Roman"/>
              <a:cs typeface="Times New Roman"/>
              <a:sym typeface="Times New Roman"/>
            </a:endParaRPr>
          </a:p>
        </p:txBody>
      </p:sp>
      <p:graphicFrame>
        <p:nvGraphicFramePr>
          <p:cNvPr id="87" name="Google Shape;87;p1"/>
          <p:cNvGraphicFramePr/>
          <p:nvPr/>
        </p:nvGraphicFramePr>
        <p:xfrm>
          <a:off x="3577400" y="3464950"/>
          <a:ext cx="5407725" cy="1462950"/>
        </p:xfrm>
        <a:graphic>
          <a:graphicData uri="http://schemas.openxmlformats.org/drawingml/2006/table">
            <a:tbl>
              <a:tblPr>
                <a:noFill/>
                <a:tableStyleId>{F673D9FE-BDC4-40B4-A7A2-8061FF2EE775}</a:tableStyleId>
              </a:tblPr>
              <a:tblGrid>
                <a:gridCol w="493625">
                  <a:extLst>
                    <a:ext uri="{9D8B030D-6E8A-4147-A177-3AD203B41FA5}">
                      <a16:colId xmlns:a16="http://schemas.microsoft.com/office/drawing/2014/main" val="20000"/>
                    </a:ext>
                  </a:extLst>
                </a:gridCol>
                <a:gridCol w="2577825">
                  <a:extLst>
                    <a:ext uri="{9D8B030D-6E8A-4147-A177-3AD203B41FA5}">
                      <a16:colId xmlns:a16="http://schemas.microsoft.com/office/drawing/2014/main" val="20001"/>
                    </a:ext>
                  </a:extLst>
                </a:gridCol>
                <a:gridCol w="2336275">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2000"/>
                        <a:buFont typeface="Arial"/>
                        <a:buNone/>
                      </a:pPr>
                      <a:r>
                        <a:rPr lang="en-IN" sz="2000" b="1" u="none" strike="noStrike" cap="none">
                          <a:latin typeface="Times New Roman"/>
                          <a:ea typeface="Times New Roman"/>
                          <a:cs typeface="Times New Roman"/>
                          <a:sym typeface="Times New Roman"/>
                        </a:rPr>
                        <a:t>A</a:t>
                      </a:r>
                      <a:endParaRPr sz="20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Sandhiya M</a:t>
                      </a:r>
                      <a:endParaRPr sz="20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2020506078</a:t>
                      </a:r>
                      <a:endParaRPr sz="20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2000"/>
                        <a:buFont typeface="Arial"/>
                        <a:buNone/>
                      </a:pPr>
                      <a:r>
                        <a:rPr lang="en-IN" sz="2000" b="1" u="none" strike="noStrike" cap="none">
                          <a:latin typeface="Times New Roman"/>
                          <a:ea typeface="Times New Roman"/>
                          <a:cs typeface="Times New Roman"/>
                          <a:sym typeface="Times New Roman"/>
                        </a:rPr>
                        <a:t>B</a:t>
                      </a:r>
                      <a:endParaRPr sz="20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Girish G</a:t>
                      </a:r>
                      <a:endParaRPr sz="20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2020506028</a:t>
                      </a:r>
                      <a:endParaRPr sz="20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2000"/>
                        <a:buFont typeface="Arial"/>
                        <a:buNone/>
                      </a:pPr>
                      <a:r>
                        <a:rPr lang="en-IN" sz="2000" b="1" u="none" strike="noStrike" cap="none">
                          <a:latin typeface="Times New Roman"/>
                          <a:ea typeface="Times New Roman"/>
                          <a:cs typeface="Times New Roman"/>
                          <a:sym typeface="Times New Roman"/>
                        </a:rPr>
                        <a:t>C</a:t>
                      </a:r>
                      <a:endParaRPr sz="20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Swetha Das R</a:t>
                      </a:r>
                      <a:endParaRPr sz="20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2020506100</a:t>
                      </a:r>
                      <a:endParaRPr sz="20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184850" y="1"/>
            <a:ext cx="12020400" cy="11589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Introduction &amp; Objectives</a:t>
            </a:r>
            <a:endParaRPr sz="3400" b="1">
              <a:latin typeface="Times New Roman"/>
              <a:ea typeface="Times New Roman"/>
              <a:cs typeface="Times New Roman"/>
              <a:sym typeface="Times New Roman"/>
            </a:endParaRPr>
          </a:p>
        </p:txBody>
      </p:sp>
      <p:sp>
        <p:nvSpPr>
          <p:cNvPr id="93" name="Google Shape;93;p2"/>
          <p:cNvSpPr txBox="1"/>
          <p:nvPr/>
        </p:nvSpPr>
        <p:spPr>
          <a:xfrm>
            <a:off x="461450" y="998800"/>
            <a:ext cx="11673600" cy="5256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2400"/>
              <a:buFont typeface="Arial"/>
              <a:buNone/>
            </a:pPr>
            <a:r>
              <a:rPr lang="en-IN" sz="2400" b="1" i="0" u="none" strike="noStrike" cap="none">
                <a:solidFill>
                  <a:schemeClr val="dk1"/>
                </a:solidFill>
                <a:latin typeface="Times New Roman"/>
                <a:ea typeface="Times New Roman"/>
                <a:cs typeface="Times New Roman"/>
                <a:sym typeface="Times New Roman"/>
              </a:rPr>
              <a:t>Introduction:</a:t>
            </a:r>
            <a:endParaRPr sz="2400" b="1"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Medical Records Management (MRM) is vital for patient care and streamlined coordination.</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Existing MRM systems face obstacles, including security concerns and slow data access.</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The project responds to the need for a patient-centric MRM solution sought by the ONC.</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Project focus : Ocular Data</a:t>
            </a:r>
            <a:endParaRPr sz="19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2400"/>
              <a:buFont typeface="Arial"/>
              <a:buNone/>
            </a:pPr>
            <a:r>
              <a:rPr lang="en-IN" sz="2400" b="1" i="0" u="none" strike="noStrike" cap="none">
                <a:solidFill>
                  <a:schemeClr val="dk1"/>
                </a:solidFill>
                <a:latin typeface="Times New Roman"/>
                <a:ea typeface="Times New Roman"/>
                <a:cs typeface="Times New Roman"/>
                <a:sym typeface="Times New Roman"/>
              </a:rPr>
              <a:t>Objectives:</a:t>
            </a:r>
            <a:endParaRPr sz="21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Establish a secure and tamper-proof blockchain network.</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Create a self-serviced medical community for users.</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Integrate Federated Learning (FL) for data privacy </a:t>
            </a:r>
            <a:r>
              <a:rPr lang="en-IN" sz="1900">
                <a:solidFill>
                  <a:schemeClr val="dk1"/>
                </a:solidFill>
                <a:latin typeface="Times New Roman"/>
                <a:ea typeface="Times New Roman"/>
                <a:cs typeface="Times New Roman"/>
                <a:sym typeface="Times New Roman"/>
              </a:rPr>
              <a:t>while receiving AI reports.</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5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Develop Explainable Artificial Intelligence (XAI) models for transparent medical decision support.</a:t>
            </a:r>
            <a:endParaRPr sz="1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1450" y="2"/>
            <a:ext cx="12029100" cy="1036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Problem Statement</a:t>
            </a:r>
            <a:endParaRPr sz="4200" b="1">
              <a:latin typeface="Times New Roman"/>
              <a:ea typeface="Times New Roman"/>
              <a:cs typeface="Times New Roman"/>
              <a:sym typeface="Times New Roman"/>
            </a:endParaRPr>
          </a:p>
        </p:txBody>
      </p:sp>
      <p:sp>
        <p:nvSpPr>
          <p:cNvPr id="99" name="Google Shape;99;p3"/>
          <p:cNvSpPr txBox="1"/>
          <p:nvPr/>
        </p:nvSpPr>
        <p:spPr>
          <a:xfrm>
            <a:off x="510025" y="880425"/>
            <a:ext cx="11512500" cy="5754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100"/>
              <a:buFont typeface="Arial"/>
              <a:buNone/>
            </a:pPr>
            <a:r>
              <a:rPr lang="en-IN" sz="2100" b="0" i="0" u="sng" strike="noStrike" cap="none">
                <a:solidFill>
                  <a:schemeClr val="dk1"/>
                </a:solidFill>
                <a:latin typeface="Times New Roman"/>
                <a:ea typeface="Times New Roman"/>
                <a:cs typeface="Times New Roman"/>
                <a:sym typeface="Times New Roman"/>
              </a:rPr>
              <a:t>Challenges in Current MRM:</a:t>
            </a:r>
            <a:endParaRPr sz="2100" b="0" i="0" u="sng"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IN" sz="1900" b="1" i="0" u="none" strike="noStrike" cap="none">
                <a:solidFill>
                  <a:schemeClr val="dk1"/>
                </a:solidFill>
                <a:latin typeface="Times New Roman"/>
                <a:ea typeface="Times New Roman"/>
                <a:cs typeface="Times New Roman"/>
                <a:sym typeface="Times New Roman"/>
              </a:rPr>
              <a:t>Security Concerns:</a:t>
            </a:r>
            <a:r>
              <a:rPr lang="en-IN" sz="1900" b="0" i="0" u="none" strike="noStrike" cap="none">
                <a:solidFill>
                  <a:schemeClr val="dk1"/>
                </a:solidFill>
                <a:latin typeface="Times New Roman"/>
                <a:ea typeface="Times New Roman"/>
                <a:cs typeface="Times New Roman"/>
                <a:sym typeface="Times New Roman"/>
              </a:rPr>
              <a:t> Patient data privacy and security are at risk in the existing systems.</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1000"/>
              </a:spcBef>
              <a:spcAft>
                <a:spcPts val="0"/>
              </a:spcAft>
              <a:buClr>
                <a:schemeClr val="dk1"/>
              </a:buClr>
              <a:buSzPts val="1900"/>
              <a:buFont typeface="Times New Roman"/>
              <a:buChar char="-"/>
            </a:pPr>
            <a:r>
              <a:rPr lang="en-IN" sz="1900" b="1" i="0" u="none" strike="noStrike" cap="none">
                <a:solidFill>
                  <a:schemeClr val="dk1"/>
                </a:solidFill>
                <a:latin typeface="Times New Roman"/>
                <a:ea typeface="Times New Roman"/>
                <a:cs typeface="Times New Roman"/>
                <a:sym typeface="Times New Roman"/>
              </a:rPr>
              <a:t>Data Inconsistencies:</a:t>
            </a:r>
            <a:r>
              <a:rPr lang="en-IN" sz="1900" b="0" i="0" u="none" strike="noStrike" cap="none">
                <a:solidFill>
                  <a:schemeClr val="dk1"/>
                </a:solidFill>
                <a:latin typeface="Times New Roman"/>
                <a:ea typeface="Times New Roman"/>
                <a:cs typeface="Times New Roman"/>
                <a:sym typeface="Times New Roman"/>
              </a:rPr>
              <a:t> Medical data is often inconsistent across various healthcare facilities.</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1000"/>
              </a:spcBef>
              <a:spcAft>
                <a:spcPts val="0"/>
              </a:spcAft>
              <a:buClr>
                <a:schemeClr val="dk1"/>
              </a:buClr>
              <a:buSzPts val="1900"/>
              <a:buFont typeface="Times New Roman"/>
              <a:buChar char="-"/>
            </a:pPr>
            <a:r>
              <a:rPr lang="en-IN" sz="1900" b="1" i="0" u="none" strike="noStrike" cap="none">
                <a:solidFill>
                  <a:schemeClr val="dk1"/>
                </a:solidFill>
                <a:latin typeface="Times New Roman"/>
                <a:ea typeface="Times New Roman"/>
                <a:cs typeface="Times New Roman"/>
                <a:sym typeface="Times New Roman"/>
              </a:rPr>
              <a:t>Slow Data Access:</a:t>
            </a:r>
            <a:r>
              <a:rPr lang="en-IN" sz="1900" b="0" i="0" u="none" strike="noStrike" cap="none">
                <a:solidFill>
                  <a:schemeClr val="dk1"/>
                </a:solidFill>
                <a:latin typeface="Times New Roman"/>
                <a:ea typeface="Times New Roman"/>
                <a:cs typeface="Times New Roman"/>
                <a:sym typeface="Times New Roman"/>
              </a:rPr>
              <a:t> Accessing relevant medical records across different facilities is often time-consuming and inefficient.</a:t>
            </a:r>
            <a:endParaRPr sz="21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1000"/>
              </a:spcBef>
              <a:spcAft>
                <a:spcPts val="0"/>
              </a:spcAft>
              <a:buClr>
                <a:srgbClr val="000000"/>
              </a:buClr>
              <a:buSzPts val="2100"/>
              <a:buFont typeface="Arial"/>
              <a:buNone/>
            </a:pPr>
            <a:r>
              <a:rPr lang="en-IN" sz="2100" b="0" i="0" u="sng" strike="noStrike" cap="none">
                <a:solidFill>
                  <a:schemeClr val="dk1"/>
                </a:solidFill>
                <a:latin typeface="Times New Roman"/>
                <a:ea typeface="Times New Roman"/>
                <a:cs typeface="Times New Roman"/>
                <a:sym typeface="Times New Roman"/>
              </a:rPr>
              <a:t>Current Limitations:</a:t>
            </a:r>
            <a:endParaRPr sz="2100" b="0" i="0" u="sng"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IN" sz="1900" b="1" i="0" u="none" strike="noStrike" cap="none">
                <a:solidFill>
                  <a:schemeClr val="dk1"/>
                </a:solidFill>
                <a:latin typeface="Times New Roman"/>
                <a:ea typeface="Times New Roman"/>
                <a:cs typeface="Times New Roman"/>
                <a:sym typeface="Times New Roman"/>
              </a:rPr>
              <a:t>Lack of Patient Control:</a:t>
            </a:r>
            <a:r>
              <a:rPr lang="en-IN" sz="1900" b="0" i="0" u="none" strike="noStrike" cap="none">
                <a:solidFill>
                  <a:schemeClr val="dk1"/>
                </a:solidFill>
                <a:latin typeface="Times New Roman"/>
                <a:ea typeface="Times New Roman"/>
                <a:cs typeface="Times New Roman"/>
                <a:sym typeface="Times New Roman"/>
              </a:rPr>
              <a:t> Patients lack full control over their medical information.</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1000"/>
              </a:spcBef>
              <a:spcAft>
                <a:spcPts val="0"/>
              </a:spcAft>
              <a:buClr>
                <a:schemeClr val="dk1"/>
              </a:buClr>
              <a:buSzPts val="1900"/>
              <a:buFont typeface="Times New Roman"/>
              <a:buChar char="-"/>
            </a:pPr>
            <a:r>
              <a:rPr lang="en-IN" sz="1900" b="1" i="0" u="none" strike="noStrike" cap="none">
                <a:solidFill>
                  <a:schemeClr val="dk1"/>
                </a:solidFill>
                <a:latin typeface="Times New Roman"/>
                <a:ea typeface="Times New Roman"/>
                <a:cs typeface="Times New Roman"/>
                <a:sym typeface="Times New Roman"/>
              </a:rPr>
              <a:t>Data Fragmentation:</a:t>
            </a:r>
            <a:r>
              <a:rPr lang="en-IN" sz="1900" b="0" i="0" u="none" strike="noStrike" cap="none">
                <a:solidFill>
                  <a:schemeClr val="dk1"/>
                </a:solidFill>
                <a:latin typeface="Times New Roman"/>
                <a:ea typeface="Times New Roman"/>
                <a:cs typeface="Times New Roman"/>
                <a:sym typeface="Times New Roman"/>
              </a:rPr>
              <a:t> Patient data is scattered across multiple healthcare providers.</a:t>
            </a:r>
            <a:endParaRPr sz="1900" b="0" i="0" u="none"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1000"/>
              </a:spcBef>
              <a:spcAft>
                <a:spcPts val="0"/>
              </a:spcAft>
              <a:buClr>
                <a:schemeClr val="dk1"/>
              </a:buClr>
              <a:buSzPts val="1900"/>
              <a:buFont typeface="Times New Roman"/>
              <a:buChar char="-"/>
            </a:pPr>
            <a:r>
              <a:rPr lang="en-IN" sz="1900" b="1" i="0" u="none" strike="noStrike" cap="none">
                <a:solidFill>
                  <a:schemeClr val="dk1"/>
                </a:solidFill>
                <a:latin typeface="Times New Roman"/>
                <a:ea typeface="Times New Roman"/>
                <a:cs typeface="Times New Roman"/>
                <a:sym typeface="Times New Roman"/>
              </a:rPr>
              <a:t>Limited Privacy-Preserving Research:</a:t>
            </a:r>
            <a:r>
              <a:rPr lang="en-IN" sz="1900" b="0" i="0" u="none" strike="noStrike" cap="none">
                <a:solidFill>
                  <a:schemeClr val="dk1"/>
                </a:solidFill>
                <a:latin typeface="Times New Roman"/>
                <a:ea typeface="Times New Roman"/>
                <a:cs typeface="Times New Roman"/>
                <a:sym typeface="Times New Roman"/>
              </a:rPr>
              <a:t> Current systems hinder researchers' access to valuable medical data while maintaining privacy.</a:t>
            </a:r>
            <a:endParaRPr sz="19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1000"/>
              </a:spcBef>
              <a:spcAft>
                <a:spcPts val="0"/>
              </a:spcAft>
              <a:buClr>
                <a:srgbClr val="000000"/>
              </a:buClr>
              <a:buSzPts val="2100"/>
              <a:buFont typeface="Arial"/>
              <a:buNone/>
            </a:pPr>
            <a:r>
              <a:rPr lang="en-IN" sz="2100" b="0" i="0" u="sng" strike="noStrike" cap="none">
                <a:solidFill>
                  <a:schemeClr val="dk1"/>
                </a:solidFill>
                <a:latin typeface="Times New Roman"/>
                <a:ea typeface="Times New Roman"/>
                <a:cs typeface="Times New Roman"/>
                <a:sym typeface="Times New Roman"/>
              </a:rPr>
              <a:t>Initial Project Focus:</a:t>
            </a:r>
            <a:endParaRPr sz="2100" b="0" i="0" u="sng"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0"/>
              </a:spcBef>
              <a:spcAft>
                <a:spcPts val="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Addressing these issues within the context of ocular diseases and data management.</a:t>
            </a:r>
            <a:endParaRPr sz="1900" b="1" i="0" u="none" strike="noStrike" cap="none">
              <a:solidFill>
                <a:schemeClr val="dk1"/>
              </a:solidFill>
              <a:latin typeface="Times New Roman"/>
              <a:ea typeface="Times New Roman"/>
              <a:cs typeface="Times New Roman"/>
              <a:sym typeface="Times New Roman"/>
            </a:endParaRPr>
          </a:p>
          <a:p>
            <a:pPr marL="457200" marR="0" lvl="0" indent="-349250" algn="l" rtl="0">
              <a:lnSpc>
                <a:spcPct val="100000"/>
              </a:lnSpc>
              <a:spcBef>
                <a:spcPts val="1000"/>
              </a:spcBef>
              <a:spcAft>
                <a:spcPts val="1000"/>
              </a:spcAft>
              <a:buClr>
                <a:schemeClr val="dk1"/>
              </a:buClr>
              <a:buSzPts val="1900"/>
              <a:buFont typeface="Times New Roman"/>
              <a:buChar char="-"/>
            </a:pPr>
            <a:r>
              <a:rPr lang="en-IN" sz="1900" b="0" i="0" u="none" strike="noStrike" cap="none">
                <a:solidFill>
                  <a:schemeClr val="dk1"/>
                </a:solidFill>
                <a:latin typeface="Times New Roman"/>
                <a:ea typeface="Times New Roman"/>
                <a:cs typeface="Times New Roman"/>
                <a:sym typeface="Times New Roman"/>
              </a:rPr>
              <a:t>A robust solution is required to enhance data security, patient control, and privacy-preserving research while streamlining access to medical records.</a:t>
            </a:r>
            <a:endParaRPr sz="19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2792aad3aab_0_0"/>
          <p:cNvSpPr txBox="1">
            <a:spLocks noGrp="1"/>
          </p:cNvSpPr>
          <p:nvPr>
            <p:ph type="title"/>
          </p:nvPr>
        </p:nvSpPr>
        <p:spPr>
          <a:xfrm>
            <a:off x="-107275" y="1"/>
            <a:ext cx="12029100" cy="7479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200" b="1">
                <a:latin typeface="Times New Roman"/>
                <a:ea typeface="Times New Roman"/>
                <a:cs typeface="Times New Roman"/>
                <a:sym typeface="Times New Roman"/>
              </a:rPr>
              <a:t>    Related Work</a:t>
            </a:r>
            <a:endParaRPr sz="4000" b="1">
              <a:latin typeface="Times New Roman"/>
              <a:ea typeface="Times New Roman"/>
              <a:cs typeface="Times New Roman"/>
              <a:sym typeface="Times New Roman"/>
            </a:endParaRPr>
          </a:p>
        </p:txBody>
      </p:sp>
      <p:sp>
        <p:nvSpPr>
          <p:cNvPr id="105" name="Google Shape;105;g2792aad3aab_0_0"/>
          <p:cNvSpPr txBox="1"/>
          <p:nvPr/>
        </p:nvSpPr>
        <p:spPr>
          <a:xfrm>
            <a:off x="226200" y="1051625"/>
            <a:ext cx="11739600" cy="54831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Times New Roman"/>
              <a:ea typeface="Times New Roman"/>
              <a:cs typeface="Times New Roman"/>
              <a:sym typeface="Times New Roman"/>
            </a:endParaRPr>
          </a:p>
        </p:txBody>
      </p:sp>
      <p:graphicFrame>
        <p:nvGraphicFramePr>
          <p:cNvPr id="106" name="Google Shape;106;g2792aad3aab_0_0"/>
          <p:cNvGraphicFramePr/>
          <p:nvPr/>
        </p:nvGraphicFramePr>
        <p:xfrm>
          <a:off x="56675" y="825650"/>
          <a:ext cx="12078650" cy="5755180"/>
        </p:xfrm>
        <a:graphic>
          <a:graphicData uri="http://schemas.openxmlformats.org/drawingml/2006/table">
            <a:tbl>
              <a:tblPr>
                <a:noFill/>
                <a:tableStyleId>{A393B9B8-25ED-4704-9383-6692835DDD55}</a:tableStyleId>
              </a:tblPr>
              <a:tblGrid>
                <a:gridCol w="606175">
                  <a:extLst>
                    <a:ext uri="{9D8B030D-6E8A-4147-A177-3AD203B41FA5}">
                      <a16:colId xmlns:a16="http://schemas.microsoft.com/office/drawing/2014/main" val="20000"/>
                    </a:ext>
                  </a:extLst>
                </a:gridCol>
                <a:gridCol w="1960650">
                  <a:extLst>
                    <a:ext uri="{9D8B030D-6E8A-4147-A177-3AD203B41FA5}">
                      <a16:colId xmlns:a16="http://schemas.microsoft.com/office/drawing/2014/main" val="20001"/>
                    </a:ext>
                  </a:extLst>
                </a:gridCol>
                <a:gridCol w="956825">
                  <a:extLst>
                    <a:ext uri="{9D8B030D-6E8A-4147-A177-3AD203B41FA5}">
                      <a16:colId xmlns:a16="http://schemas.microsoft.com/office/drawing/2014/main" val="20002"/>
                    </a:ext>
                  </a:extLst>
                </a:gridCol>
                <a:gridCol w="610200">
                  <a:extLst>
                    <a:ext uri="{9D8B030D-6E8A-4147-A177-3AD203B41FA5}">
                      <a16:colId xmlns:a16="http://schemas.microsoft.com/office/drawing/2014/main" val="20003"/>
                    </a:ext>
                  </a:extLst>
                </a:gridCol>
                <a:gridCol w="3073450">
                  <a:extLst>
                    <a:ext uri="{9D8B030D-6E8A-4147-A177-3AD203B41FA5}">
                      <a16:colId xmlns:a16="http://schemas.microsoft.com/office/drawing/2014/main" val="20004"/>
                    </a:ext>
                  </a:extLst>
                </a:gridCol>
                <a:gridCol w="1998150">
                  <a:extLst>
                    <a:ext uri="{9D8B030D-6E8A-4147-A177-3AD203B41FA5}">
                      <a16:colId xmlns:a16="http://schemas.microsoft.com/office/drawing/2014/main" val="20005"/>
                    </a:ext>
                  </a:extLst>
                </a:gridCol>
                <a:gridCol w="2873200">
                  <a:extLst>
                    <a:ext uri="{9D8B030D-6E8A-4147-A177-3AD203B41FA5}">
                      <a16:colId xmlns:a16="http://schemas.microsoft.com/office/drawing/2014/main" val="20006"/>
                    </a:ext>
                  </a:extLst>
                </a:gridCol>
              </a:tblGrid>
              <a:tr h="413275">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S.No</a:t>
                      </a:r>
                      <a:endParaRPr sz="16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Paper Title</a:t>
                      </a:r>
                      <a:endParaRPr sz="16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Type</a:t>
                      </a:r>
                      <a:endParaRPr sz="1600" b="1"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Year</a:t>
                      </a:r>
                      <a:endParaRPr sz="1600" b="1"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Proposed work</a:t>
                      </a:r>
                      <a:endParaRPr sz="16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Drawback</a:t>
                      </a:r>
                      <a:endParaRPr sz="16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latin typeface="Times New Roman"/>
                          <a:ea typeface="Times New Roman"/>
                          <a:cs typeface="Times New Roman"/>
                          <a:sym typeface="Times New Roman"/>
                        </a:rPr>
                        <a:t>Future work</a:t>
                      </a:r>
                      <a:endParaRPr sz="1600" u="none" strike="noStrike" cap="none">
                        <a:latin typeface="Times New Roman"/>
                        <a:ea typeface="Times New Roman"/>
                        <a:cs typeface="Times New Roman"/>
                        <a:sym typeface="Times New Roman"/>
                      </a:endParaRPr>
                    </a:p>
                  </a:txBody>
                  <a:tcPr marL="76200" marR="76200" marT="76200" marB="76200"/>
                </a:tc>
                <a:extLst>
                  <a:ext uri="{0D108BD9-81ED-4DB2-BD59-A6C34878D82A}">
                    <a16:rowId xmlns:a16="http://schemas.microsoft.com/office/drawing/2014/main" val="10000"/>
                  </a:ext>
                </a:extLst>
              </a:tr>
              <a:tr h="1058700">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1. </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A Patient-Centric Health Information Exchange Framework Using Blockchain Technology (</a:t>
                      </a:r>
                      <a:r>
                        <a:rPr lang="en-IN" sz="1300" b="1" u="none" strike="noStrike" cap="none">
                          <a:latin typeface="Times New Roman"/>
                          <a:ea typeface="Times New Roman"/>
                          <a:cs typeface="Times New Roman"/>
                          <a:sym typeface="Times New Roman"/>
                        </a:rPr>
                        <a:t>Base Paper</a:t>
                      </a:r>
                      <a:r>
                        <a:rPr lang="en-IN" sz="1300" u="none" strike="noStrike" cap="none">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Journal</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2020</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Blockchain based application that helps patients to manage their records. </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Data insecurity when shared with researchers. </a:t>
                      </a:r>
                      <a:endParaRPr sz="13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Smart contracts could include a credit mechanism</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Add an artificial intelligence component to the blockchain </a:t>
                      </a:r>
                      <a:endParaRPr sz="1300" u="none" strike="noStrike" cap="none">
                        <a:latin typeface="Times New Roman"/>
                        <a:ea typeface="Times New Roman"/>
                        <a:cs typeface="Times New Roman"/>
                        <a:sym typeface="Times New Roman"/>
                      </a:endParaRPr>
                    </a:p>
                  </a:txBody>
                  <a:tcPr marL="76200" marR="76200" marT="76200" marB="76200">
                    <a:solidFill>
                      <a:srgbClr val="B6D7A8"/>
                    </a:solidFill>
                  </a:tcPr>
                </a:tc>
                <a:extLst>
                  <a:ext uri="{0D108BD9-81ED-4DB2-BD59-A6C34878D82A}">
                    <a16:rowId xmlns:a16="http://schemas.microsoft.com/office/drawing/2014/main" val="10001"/>
                  </a:ext>
                </a:extLst>
              </a:tr>
              <a:tr h="868050">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Using Blockchain for Electronic Health Records</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Journal</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2019</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Blockchain based EHR framework using Ethereum and  IPFS, combining smart contracts and off-chain storage.</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Transaction speed and gas costs on the Ethereum network could impact real-time performance.</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Secure payment integration, </a:t>
                      </a:r>
                      <a:endParaRPr sz="13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improved platform interoperability, </a:t>
                      </a:r>
                      <a:endParaRPr sz="13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and streamlined user interfaces. </a:t>
                      </a:r>
                      <a:endParaRPr sz="1300" u="none" strike="noStrike" cap="none">
                        <a:latin typeface="Times New Roman"/>
                        <a:ea typeface="Times New Roman"/>
                        <a:cs typeface="Times New Roman"/>
                        <a:sym typeface="Times New Roman"/>
                      </a:endParaRPr>
                    </a:p>
                  </a:txBody>
                  <a:tcPr marL="76200" marR="76200" marT="76200" marB="76200">
                    <a:solidFill>
                      <a:srgbClr val="FFFFFF"/>
                    </a:solidFill>
                  </a:tcPr>
                </a:tc>
                <a:extLst>
                  <a:ext uri="{0D108BD9-81ED-4DB2-BD59-A6C34878D82A}">
                    <a16:rowId xmlns:a16="http://schemas.microsoft.com/office/drawing/2014/main" val="10002"/>
                  </a:ext>
                </a:extLst>
              </a:tr>
              <a:tr h="955500">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l"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Healthchain: Secure EMRs Management and Trading in Distributed Healthcare Service System </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Journal</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2021</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l"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A peer-to-peer EMRs data management and trading system called healthchain on consortium blockchain technology. </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l"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Privacy breach among edge network,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System security against quantum attacks.</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l"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Establish a practical real-time EMRs data exchanging system and perform the proposed pricing strategic model.</a:t>
                      </a:r>
                      <a:endParaRPr sz="1300" u="none" strike="noStrike" cap="none">
                        <a:latin typeface="Times New Roman"/>
                        <a:ea typeface="Times New Roman"/>
                        <a:cs typeface="Times New Roman"/>
                        <a:sym typeface="Times New Roman"/>
                      </a:endParaRPr>
                    </a:p>
                  </a:txBody>
                  <a:tcPr marL="76200" marR="76200" marT="76200" marB="76200"/>
                </a:tc>
                <a:extLst>
                  <a:ext uri="{0D108BD9-81ED-4DB2-BD59-A6C34878D82A}">
                    <a16:rowId xmlns:a16="http://schemas.microsoft.com/office/drawing/2014/main" val="10003"/>
                  </a:ext>
                </a:extLst>
              </a:tr>
              <a:tr h="1155525">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Privacy-Preserved Electronic Medical Record Exchanging and Sharing: A Blockchain-Based Smart Healthcare System</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Journal</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2022</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A blockchain-based smart healthcare system with fine-grained privacy protection for reliable data exchanging and sharing.</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Security and privacy infringement. </a:t>
                      </a:r>
                      <a:endParaRPr sz="13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Complex workflow of IoMT.</a:t>
                      </a:r>
                      <a:endParaRPr sz="1300" u="none" strike="noStrike" cap="none">
                        <a:highlight>
                          <a:srgbClr val="F7F7F8"/>
                        </a:highlight>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Enhance the flexibility of access control principle by considering security, privacy and complex workflow of IoMT issues simultaneously.</a:t>
                      </a:r>
                      <a:endParaRPr sz="1300" u="none" strike="noStrike" cap="none">
                        <a:latin typeface="Times New Roman"/>
                        <a:ea typeface="Times New Roman"/>
                        <a:cs typeface="Times New Roman"/>
                        <a:sym typeface="Times New Roman"/>
                      </a:endParaRPr>
                    </a:p>
                  </a:txBody>
                  <a:tcPr marL="76200" marR="76200" marT="76200" marB="76200"/>
                </a:tc>
                <a:extLst>
                  <a:ext uri="{0D108BD9-81ED-4DB2-BD59-A6C34878D82A}">
                    <a16:rowId xmlns:a16="http://schemas.microsoft.com/office/drawing/2014/main" val="10004"/>
                  </a:ext>
                </a:extLst>
              </a:tr>
              <a:tr h="1099925">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MedShare: </a:t>
                      </a:r>
                      <a:endParaRPr sz="1300" u="none" strike="noStrike" cap="none">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A Privacy-Preserving Medical Data Sharing System by Using Blockchain</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Transaction</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ctr"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2023</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Leverages blockchain for EHR sharing with encrypted indexes, ensuring secure searches while safeguarding data privacy.</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Scaling MedShare could introduce latency and scalability concerns, impacting search efficiency.</a:t>
                      </a:r>
                      <a:endParaRPr sz="1300" u="none" strike="noStrike" cap="none">
                        <a:latin typeface="Times New Roman"/>
                        <a:ea typeface="Times New Roman"/>
                        <a:cs typeface="Times New Roman"/>
                        <a:sym typeface="Times New Roman"/>
                      </a:endParaRPr>
                    </a:p>
                  </a:txBody>
                  <a:tcPr marL="76200" marR="76200" marT="76200" marB="76200"/>
                </a:tc>
                <a:tc>
                  <a:txBody>
                    <a:bodyPr/>
                    <a:lstStyle/>
                    <a:p>
                      <a:pPr marL="0" marR="0" lvl="0" indent="0" algn="just" rtl="0">
                        <a:lnSpc>
                          <a:spcPct val="100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Dynamic access controls, scalability solutions, and integration with healthcare standards to improve MedShare's adaptability and practicality.</a:t>
                      </a:r>
                      <a:endParaRPr sz="1300" u="none" strike="noStrike" cap="none">
                        <a:latin typeface="Times New Roman"/>
                        <a:ea typeface="Times New Roman"/>
                        <a:cs typeface="Times New Roman"/>
                        <a:sym typeface="Times New Roman"/>
                      </a:endParaRPr>
                    </a:p>
                  </a:txBody>
                  <a:tcPr marL="76200" marR="76200" marT="76200" marB="76200"/>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2a98e909c6d_0_0"/>
          <p:cNvSpPr txBox="1">
            <a:spLocks noGrp="1"/>
          </p:cNvSpPr>
          <p:nvPr>
            <p:ph type="title"/>
          </p:nvPr>
        </p:nvSpPr>
        <p:spPr>
          <a:xfrm>
            <a:off x="0" y="-80048"/>
            <a:ext cx="12029100" cy="1036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         </a:t>
            </a:r>
            <a:r>
              <a:rPr lang="en-IN" sz="3300" b="1">
                <a:latin typeface="Times New Roman"/>
                <a:ea typeface="Times New Roman"/>
                <a:cs typeface="Times New Roman"/>
                <a:sym typeface="Times New Roman"/>
              </a:rPr>
              <a:t>SMC-BC Architecture</a:t>
            </a:r>
            <a:endParaRPr sz="4100" b="1">
              <a:latin typeface="Times New Roman"/>
              <a:ea typeface="Times New Roman"/>
              <a:cs typeface="Times New Roman"/>
              <a:sym typeface="Times New Roman"/>
            </a:endParaRPr>
          </a:p>
        </p:txBody>
      </p:sp>
      <p:pic>
        <p:nvPicPr>
          <p:cNvPr id="112" name="Google Shape;112;g2a98e909c6d_0_0"/>
          <p:cNvPicPr preferRelativeResize="0"/>
          <p:nvPr/>
        </p:nvPicPr>
        <p:blipFill>
          <a:blip r:embed="rId3">
            <a:alphaModFix/>
          </a:blip>
          <a:stretch>
            <a:fillRect/>
          </a:stretch>
        </p:blipFill>
        <p:spPr>
          <a:xfrm>
            <a:off x="1059525" y="810375"/>
            <a:ext cx="10391300" cy="5873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24c6a5eee9c_0_0"/>
          <p:cNvSpPr txBox="1">
            <a:spLocks noGrp="1"/>
          </p:cNvSpPr>
          <p:nvPr>
            <p:ph type="title"/>
          </p:nvPr>
        </p:nvSpPr>
        <p:spPr>
          <a:xfrm>
            <a:off x="0" y="-80048"/>
            <a:ext cx="12029100" cy="1036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         </a:t>
            </a:r>
            <a:r>
              <a:rPr lang="en-IN" sz="3300" b="1">
                <a:latin typeface="Times New Roman"/>
                <a:ea typeface="Times New Roman"/>
                <a:cs typeface="Times New Roman"/>
                <a:sym typeface="Times New Roman"/>
              </a:rPr>
              <a:t>Modular Architecture for SMC-BC</a:t>
            </a:r>
            <a:endParaRPr sz="4100" b="1">
              <a:latin typeface="Times New Roman"/>
              <a:ea typeface="Times New Roman"/>
              <a:cs typeface="Times New Roman"/>
              <a:sym typeface="Times New Roman"/>
            </a:endParaRPr>
          </a:p>
        </p:txBody>
      </p:sp>
      <p:pic>
        <p:nvPicPr>
          <p:cNvPr id="118" name="Google Shape;118;g24c6a5eee9c_0_0"/>
          <p:cNvPicPr preferRelativeResize="0"/>
          <p:nvPr/>
        </p:nvPicPr>
        <p:blipFill rotWithShape="1">
          <a:blip r:embed="rId3">
            <a:alphaModFix/>
          </a:blip>
          <a:srcRect l="11411" t="4481" r="13760" b="4624"/>
          <a:stretch/>
        </p:blipFill>
        <p:spPr>
          <a:xfrm>
            <a:off x="1136775" y="749200"/>
            <a:ext cx="9953424" cy="6032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2a98e909c6d_0_6"/>
          <p:cNvSpPr txBox="1"/>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N" sz="3600" b="1">
                <a:solidFill>
                  <a:srgbClr val="000000"/>
                </a:solidFill>
                <a:latin typeface="Times New Roman"/>
                <a:ea typeface="Times New Roman"/>
                <a:cs typeface="Times New Roman"/>
                <a:sym typeface="Times New Roman"/>
              </a:rPr>
              <a:t>                                   </a:t>
            </a:r>
            <a:r>
              <a:rPr lang="en-IN" sz="3400" b="1">
                <a:solidFill>
                  <a:srgbClr val="000000"/>
                </a:solidFill>
                <a:latin typeface="Times New Roman"/>
                <a:ea typeface="Times New Roman"/>
                <a:cs typeface="Times New Roman"/>
                <a:sym typeface="Times New Roman"/>
              </a:rPr>
              <a:t> Implementation</a:t>
            </a:r>
            <a:endParaRPr sz="4200" b="1">
              <a:solidFill>
                <a:srgbClr val="000000"/>
              </a:solidFill>
              <a:latin typeface="Times New Roman"/>
              <a:ea typeface="Times New Roman"/>
              <a:cs typeface="Times New Roman"/>
              <a:sym typeface="Times New Roman"/>
            </a:endParaRPr>
          </a:p>
        </p:txBody>
      </p:sp>
      <p:sp>
        <p:nvSpPr>
          <p:cNvPr id="124" name="Google Shape;124;g2a98e909c6d_0_6"/>
          <p:cNvSpPr txBox="1"/>
          <p:nvPr/>
        </p:nvSpPr>
        <p:spPr>
          <a:xfrm>
            <a:off x="287200" y="687450"/>
            <a:ext cx="11623800" cy="608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IN" sz="2100" b="1">
                <a:solidFill>
                  <a:srgbClr val="000000"/>
                </a:solidFill>
                <a:latin typeface="Times New Roman"/>
                <a:ea typeface="Times New Roman"/>
                <a:cs typeface="Times New Roman"/>
                <a:sym typeface="Times New Roman"/>
              </a:rPr>
              <a:t>MODULE 1: Docker Containers and Images</a:t>
            </a:r>
            <a:endParaRPr sz="2100" b="1">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700" b="1">
              <a:solidFill>
                <a:srgbClr val="000000"/>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r>
              <a:rPr lang="en-IN" sz="1700" b="1">
                <a:solidFill>
                  <a:srgbClr val="000000"/>
                </a:solidFill>
                <a:latin typeface="Times New Roman"/>
                <a:ea typeface="Times New Roman"/>
                <a:cs typeface="Times New Roman"/>
                <a:sym typeface="Times New Roman"/>
              </a:rPr>
              <a:t>Docker Containers for Isolation</a:t>
            </a:r>
            <a:r>
              <a:rPr lang="en-IN" sz="1700">
                <a:solidFill>
                  <a:srgbClr val="000000"/>
                </a:solidFill>
                <a:latin typeface="Times New Roman"/>
                <a:ea typeface="Times New Roman"/>
                <a:cs typeface="Times New Roman"/>
                <a:sym typeface="Times New Roman"/>
              </a:rPr>
              <a:t>:</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Utilizing Docker containers for deploying components of Hyperledger Fabric.</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Ensures isolation between peers, orderers, and chaincode containers.</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Lightweight and isolated environments prevent component interference, reducing conflicts and simplifying dependency management.</a:t>
            </a:r>
            <a:endParaRPr sz="1700">
              <a:solidFill>
                <a:srgbClr val="000000"/>
              </a:solidFill>
              <a:latin typeface="Times New Roman"/>
              <a:ea typeface="Times New Roman"/>
              <a:cs typeface="Times New Roman"/>
              <a:sym typeface="Times New Roman"/>
            </a:endParaRPr>
          </a:p>
          <a:p>
            <a:pPr marL="91440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91440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endParaRPr sz="1700">
              <a:solidFill>
                <a:srgbClr val="000000"/>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r>
              <a:rPr lang="en-IN" sz="1700" b="1">
                <a:solidFill>
                  <a:srgbClr val="000000"/>
                </a:solidFill>
                <a:latin typeface="Times New Roman"/>
                <a:ea typeface="Times New Roman"/>
                <a:cs typeface="Times New Roman"/>
                <a:sym typeface="Times New Roman"/>
              </a:rPr>
              <a:t>Key Functionalities</a:t>
            </a:r>
            <a:r>
              <a:rPr lang="en-IN" sz="1700">
                <a:solidFill>
                  <a:srgbClr val="000000"/>
                </a:solidFill>
                <a:latin typeface="Times New Roman"/>
                <a:ea typeface="Times New Roman"/>
                <a:cs typeface="Times New Roman"/>
                <a:sym typeface="Times New Roman"/>
              </a:rPr>
              <a:t>:</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Containers Down: Shutdown all containers/peers.</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Containers Up: Bring up all containers/peers.</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Createchannel: Establish a communication channel within the community.</a:t>
            </a:r>
            <a:endParaRPr sz="1700">
              <a:solidFill>
                <a:srgbClr val="000000"/>
              </a:solidFill>
              <a:latin typeface="Times New Roman"/>
              <a:ea typeface="Times New Roman"/>
              <a:cs typeface="Times New Roman"/>
              <a:sym typeface="Times New Roman"/>
            </a:endParaRPr>
          </a:p>
          <a:p>
            <a:pPr marL="914400" lvl="1" indent="-336550" algn="l" rtl="0">
              <a:spcBef>
                <a:spcPts val="0"/>
              </a:spcBef>
              <a:spcAft>
                <a:spcPts val="0"/>
              </a:spcAft>
              <a:buClr>
                <a:srgbClr val="000000"/>
              </a:buClr>
              <a:buSzPts val="1700"/>
              <a:buFont typeface="Times New Roman"/>
              <a:buChar char="○"/>
            </a:pPr>
            <a:r>
              <a:rPr lang="en-IN" sz="1700">
                <a:solidFill>
                  <a:srgbClr val="000000"/>
                </a:solidFill>
                <a:latin typeface="Times New Roman"/>
                <a:ea typeface="Times New Roman"/>
                <a:cs typeface="Times New Roman"/>
                <a:sym typeface="Times New Roman"/>
              </a:rPr>
              <a:t>Deploy Chaincode: Implement the chaincode/smart contract across all peers.</a:t>
            </a:r>
            <a:endParaRPr sz="1700">
              <a:solidFill>
                <a:srgbClr val="000000"/>
              </a:solidFill>
              <a:highlight>
                <a:srgbClr val="F7F7F8"/>
              </a:highlight>
              <a:latin typeface="Times New Roman"/>
              <a:ea typeface="Times New Roman"/>
              <a:cs typeface="Times New Roman"/>
              <a:sym typeface="Times New Roman"/>
            </a:endParaRPr>
          </a:p>
        </p:txBody>
      </p:sp>
      <p:graphicFrame>
        <p:nvGraphicFramePr>
          <p:cNvPr id="125" name="Google Shape;125;g2a98e909c6d_0_6"/>
          <p:cNvGraphicFramePr/>
          <p:nvPr/>
        </p:nvGraphicFramePr>
        <p:xfrm>
          <a:off x="2326375" y="2939450"/>
          <a:ext cx="5890950" cy="1810575"/>
        </p:xfrm>
        <a:graphic>
          <a:graphicData uri="http://schemas.openxmlformats.org/drawingml/2006/table">
            <a:tbl>
              <a:tblPr>
                <a:noFill/>
                <a:tableStyleId>{023DCDED-4CDC-40B4-A735-F9C09451C1B8}</a:tableStyleId>
              </a:tblPr>
              <a:tblGrid>
                <a:gridCol w="2386475">
                  <a:extLst>
                    <a:ext uri="{9D8B030D-6E8A-4147-A177-3AD203B41FA5}">
                      <a16:colId xmlns:a16="http://schemas.microsoft.com/office/drawing/2014/main" val="20000"/>
                    </a:ext>
                  </a:extLst>
                </a:gridCol>
                <a:gridCol w="3504475">
                  <a:extLst>
                    <a:ext uri="{9D8B030D-6E8A-4147-A177-3AD203B41FA5}">
                      <a16:colId xmlns:a16="http://schemas.microsoft.com/office/drawing/2014/main" val="20001"/>
                    </a:ext>
                  </a:extLst>
                </a:gridCol>
              </a:tblGrid>
              <a:tr h="370425">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Network Name</a:t>
                      </a:r>
                      <a:endParaRPr sz="1500"/>
                    </a:p>
                  </a:txBody>
                  <a:tcPr marL="91425" marR="91425" marT="91425" marB="91425">
                    <a:solidFill>
                      <a:srgbClr val="E7E6E6"/>
                    </a:solidFill>
                  </a:tcPr>
                </a:tc>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Titanium.com</a:t>
                      </a:r>
                      <a:endParaRPr sz="1500"/>
                    </a:p>
                  </a:txBody>
                  <a:tcPr marL="91425" marR="91425" marT="91425" marB="91425"/>
                </a:tc>
                <a:extLst>
                  <a:ext uri="{0D108BD9-81ED-4DB2-BD59-A6C34878D82A}">
                    <a16:rowId xmlns:a16="http://schemas.microsoft.com/office/drawing/2014/main" val="10000"/>
                  </a:ext>
                </a:extLst>
              </a:tr>
              <a:tr h="370425">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Communication Channel</a:t>
                      </a:r>
                      <a:endParaRPr sz="1500"/>
                    </a:p>
                  </a:txBody>
                  <a:tcPr marL="91425" marR="91425" marT="91425" marB="91425">
                    <a:solidFill>
                      <a:srgbClr val="E7E6E6"/>
                    </a:solidFill>
                  </a:tcPr>
                </a:tc>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hospitalchannel</a:t>
                      </a:r>
                      <a:endParaRPr sz="1500"/>
                    </a:p>
                  </a:txBody>
                  <a:tcPr marL="91425" marR="91425" marT="91425" marB="91425"/>
                </a:tc>
                <a:extLst>
                  <a:ext uri="{0D108BD9-81ED-4DB2-BD59-A6C34878D82A}">
                    <a16:rowId xmlns:a16="http://schemas.microsoft.com/office/drawing/2014/main" val="10001"/>
                  </a:ext>
                </a:extLst>
              </a:tr>
              <a:tr h="576225">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Organizations</a:t>
                      </a:r>
                      <a:endParaRPr sz="1500"/>
                    </a:p>
                  </a:txBody>
                  <a:tcPr marL="91425" marR="91425" marT="91425" marB="91425">
                    <a:solidFill>
                      <a:srgbClr val="E7E6E6"/>
                    </a:solidFill>
                  </a:tcPr>
                </a:tc>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'Hosp1' and 'Hosp2,' each with one peer.</a:t>
                      </a:r>
                      <a:endParaRPr sz="1500"/>
                    </a:p>
                  </a:txBody>
                  <a:tcPr marL="91425" marR="91425" marT="91425" marB="91425"/>
                </a:tc>
                <a:extLst>
                  <a:ext uri="{0D108BD9-81ED-4DB2-BD59-A6C34878D82A}">
                    <a16:rowId xmlns:a16="http://schemas.microsoft.com/office/drawing/2014/main" val="10002"/>
                  </a:ext>
                </a:extLst>
              </a:tr>
              <a:tr h="370425">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Chaincode Language</a:t>
                      </a:r>
                      <a:endParaRPr sz="1500"/>
                    </a:p>
                  </a:txBody>
                  <a:tcPr marL="91425" marR="91425" marT="91425" marB="91425">
                    <a:solidFill>
                      <a:srgbClr val="E7E6E6"/>
                    </a:solidFill>
                  </a:tcPr>
                </a:tc>
                <a:tc>
                  <a:txBody>
                    <a:bodyPr/>
                    <a:lstStyle/>
                    <a:p>
                      <a:pPr marL="0" lvl="0" indent="0" algn="l" rtl="0">
                        <a:spcBef>
                          <a:spcPts val="0"/>
                        </a:spcBef>
                        <a:spcAft>
                          <a:spcPts val="0"/>
                        </a:spcAft>
                        <a:buNone/>
                      </a:pPr>
                      <a:r>
                        <a:rPr lang="en-IN" sz="1500">
                          <a:solidFill>
                            <a:srgbClr val="000000"/>
                          </a:solidFill>
                          <a:latin typeface="Times New Roman"/>
                          <a:ea typeface="Times New Roman"/>
                          <a:cs typeface="Times New Roman"/>
                          <a:sym typeface="Times New Roman"/>
                        </a:rPr>
                        <a:t>JavaScript</a:t>
                      </a:r>
                      <a:endParaRPr sz="150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2a98e909c6d_0_14"/>
          <p:cNvSpPr txBox="1"/>
          <p:nvPr/>
        </p:nvSpPr>
        <p:spPr>
          <a:xfrm>
            <a:off x="81450" y="-138400"/>
            <a:ext cx="12029100" cy="87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N" sz="3600" b="1">
                <a:solidFill>
                  <a:srgbClr val="000000"/>
                </a:solidFill>
                <a:latin typeface="Times New Roman"/>
                <a:ea typeface="Times New Roman"/>
                <a:cs typeface="Times New Roman"/>
                <a:sym typeface="Times New Roman"/>
              </a:rPr>
              <a:t>                                   </a:t>
            </a:r>
            <a:r>
              <a:rPr lang="en-IN" sz="3400" b="1">
                <a:solidFill>
                  <a:srgbClr val="000000"/>
                </a:solidFill>
                <a:latin typeface="Times New Roman"/>
                <a:ea typeface="Times New Roman"/>
                <a:cs typeface="Times New Roman"/>
                <a:sym typeface="Times New Roman"/>
              </a:rPr>
              <a:t> Implementation</a:t>
            </a:r>
            <a:endParaRPr sz="4200" b="1">
              <a:solidFill>
                <a:srgbClr val="000000"/>
              </a:solidFill>
              <a:latin typeface="Times New Roman"/>
              <a:ea typeface="Times New Roman"/>
              <a:cs typeface="Times New Roman"/>
              <a:sym typeface="Times New Roman"/>
            </a:endParaRPr>
          </a:p>
        </p:txBody>
      </p:sp>
      <p:sp>
        <p:nvSpPr>
          <p:cNvPr id="131" name="Google Shape;131;g2a98e909c6d_0_14"/>
          <p:cNvSpPr txBox="1"/>
          <p:nvPr/>
        </p:nvSpPr>
        <p:spPr>
          <a:xfrm>
            <a:off x="566400" y="613425"/>
            <a:ext cx="6709500" cy="6634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IN" sz="1800" b="1">
                <a:latin typeface="Times New Roman"/>
                <a:ea typeface="Times New Roman"/>
                <a:cs typeface="Times New Roman"/>
                <a:sym typeface="Times New Roman"/>
              </a:rPr>
              <a:t>MODULE 2: Development of Smart contract</a:t>
            </a:r>
            <a:endParaRPr sz="1800" b="1">
              <a:latin typeface="Times New Roman"/>
              <a:ea typeface="Times New Roman"/>
              <a:cs typeface="Times New Roman"/>
              <a:sym typeface="Times New Roman"/>
            </a:endParaRPr>
          </a:p>
          <a:p>
            <a:pPr marL="0" lvl="0" indent="0" algn="just" rtl="0">
              <a:spcBef>
                <a:spcPts val="0"/>
              </a:spcBef>
              <a:spcAft>
                <a:spcPts val="0"/>
              </a:spcAft>
              <a:buNone/>
            </a:pPr>
            <a:endParaRPr b="1">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IN" sz="1600" b="1" u="sng">
                <a:latin typeface="Times New Roman"/>
                <a:ea typeface="Times New Roman"/>
                <a:cs typeface="Times New Roman"/>
                <a:sym typeface="Times New Roman"/>
              </a:rPr>
              <a:t>Primary Smart Contract:</a:t>
            </a:r>
            <a:r>
              <a:rPr lang="en-IN" sz="1600" b="1">
                <a:latin typeface="Times New Roman"/>
                <a:ea typeface="Times New Roman"/>
                <a:cs typeface="Times New Roman"/>
                <a:sym typeface="Times New Roman"/>
              </a:rPr>
              <a:t>  </a:t>
            </a:r>
            <a:endParaRPr sz="1600" b="1">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a:latin typeface="Times New Roman"/>
                <a:ea typeface="Times New Roman"/>
                <a:cs typeface="Times New Roman"/>
                <a:sym typeface="Times New Roman"/>
              </a:rPr>
              <a:t>Foundation for all operations in the self-serviced medical community.</a:t>
            </a:r>
            <a:endParaRPr sz="1600">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b="1">
                <a:latin typeface="Times New Roman"/>
                <a:ea typeface="Times New Roman"/>
                <a:cs typeface="Times New Roman"/>
                <a:sym typeface="Times New Roman"/>
              </a:rPr>
              <a:t>Functions</a:t>
            </a:r>
            <a:r>
              <a:rPr lang="en-IN" sz="1600">
                <a:latin typeface="Times New Roman"/>
                <a:ea typeface="Times New Roman"/>
                <a:cs typeface="Times New Roman"/>
                <a:sym typeface="Times New Roman"/>
              </a:rPr>
              <a:t>: ReadPatientById, ExistenceofPatient, GetAllPatient.</a:t>
            </a:r>
            <a:endParaRPr sz="1600">
              <a:latin typeface="Times New Roman"/>
              <a:ea typeface="Times New Roman"/>
              <a:cs typeface="Times New Roman"/>
              <a:sym typeface="Times New Roman"/>
            </a:endParaRPr>
          </a:p>
          <a:p>
            <a:pPr marL="2743200" lvl="0" indent="0" algn="just" rtl="0">
              <a:spcBef>
                <a:spcPts val="0"/>
              </a:spcBef>
              <a:spcAft>
                <a:spcPts val="0"/>
              </a:spcAft>
              <a:buNone/>
            </a:pPr>
            <a:endParaRPr sz="1600" b="1">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IN" sz="1600" b="1" u="sng">
                <a:latin typeface="Times New Roman"/>
                <a:ea typeface="Times New Roman"/>
                <a:cs typeface="Times New Roman"/>
                <a:sym typeface="Times New Roman"/>
              </a:rPr>
              <a:t>Patient Contract:</a:t>
            </a:r>
            <a:r>
              <a:rPr lang="en-IN" sz="1600" b="1">
                <a:latin typeface="Times New Roman"/>
                <a:ea typeface="Times New Roman"/>
                <a:cs typeface="Times New Roman"/>
                <a:sym typeface="Times New Roman"/>
              </a:rPr>
              <a:t> </a:t>
            </a:r>
            <a:endParaRPr sz="1600" b="1">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a:latin typeface="Times New Roman"/>
                <a:ea typeface="Times New Roman"/>
                <a:cs typeface="Times New Roman"/>
                <a:sym typeface="Times New Roman"/>
              </a:rPr>
              <a:t>Manages patient accessibility and data control.</a:t>
            </a:r>
            <a:endParaRPr sz="1600">
              <a:latin typeface="Times New Roman"/>
              <a:ea typeface="Times New Roman"/>
              <a:cs typeface="Times New Roman"/>
              <a:sym typeface="Times New Roman"/>
            </a:endParaRPr>
          </a:p>
          <a:p>
            <a:pPr marL="914400" lvl="0" indent="-330200" algn="l" rtl="0">
              <a:spcBef>
                <a:spcPts val="0"/>
              </a:spcBef>
              <a:spcAft>
                <a:spcPts val="0"/>
              </a:spcAft>
              <a:buSzPts val="1600"/>
              <a:buFont typeface="Times New Roman"/>
              <a:buChar char="-"/>
            </a:pPr>
            <a:r>
              <a:rPr lang="en-IN" sz="1600" b="1">
                <a:latin typeface="Times New Roman"/>
                <a:ea typeface="Times New Roman"/>
                <a:cs typeface="Times New Roman"/>
                <a:sym typeface="Times New Roman"/>
              </a:rPr>
              <a:t>Functions</a:t>
            </a:r>
            <a:r>
              <a:rPr lang="en-IN" sz="1600">
                <a:latin typeface="Times New Roman"/>
                <a:ea typeface="Times New Roman"/>
                <a:cs typeface="Times New Roman"/>
                <a:sym typeface="Times New Roman"/>
              </a:rPr>
              <a:t>: UpdatePatientPersonalDetails, UpdatePatientPassword, GetPatientPassword, GetPatientHistory, GrantAccessToDoctor, RevokeAccessFromDoctor.</a:t>
            </a:r>
            <a:endParaRPr sz="1600">
              <a:latin typeface="Times New Roman"/>
              <a:ea typeface="Times New Roman"/>
              <a:cs typeface="Times New Roman"/>
              <a:sym typeface="Times New Roman"/>
            </a:endParaRPr>
          </a:p>
          <a:p>
            <a:pPr marL="2743200" lvl="0" indent="0" algn="l" rtl="0">
              <a:spcBef>
                <a:spcPts val="0"/>
              </a:spcBef>
              <a:spcAft>
                <a:spcPts val="0"/>
              </a:spcAft>
              <a:buNone/>
            </a:pPr>
            <a:endParaRPr sz="1600">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IN" sz="1600" b="1" u="sng">
                <a:latin typeface="Times New Roman"/>
                <a:ea typeface="Times New Roman"/>
                <a:cs typeface="Times New Roman"/>
                <a:sym typeface="Times New Roman"/>
              </a:rPr>
              <a:t>Doctor Contract:</a:t>
            </a:r>
            <a:r>
              <a:rPr lang="en-IN" sz="1600" b="1">
                <a:latin typeface="Times New Roman"/>
                <a:ea typeface="Times New Roman"/>
                <a:cs typeface="Times New Roman"/>
                <a:sym typeface="Times New Roman"/>
              </a:rPr>
              <a:t> </a:t>
            </a:r>
            <a:endParaRPr sz="1600" b="1">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a:latin typeface="Times New Roman"/>
                <a:ea typeface="Times New Roman"/>
                <a:cs typeface="Times New Roman"/>
                <a:sym typeface="Times New Roman"/>
              </a:rPr>
              <a:t>Facilitates doctor access and privacy-preserving data handling.</a:t>
            </a:r>
            <a:endParaRPr sz="1600">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b="1">
                <a:latin typeface="Times New Roman"/>
                <a:ea typeface="Times New Roman"/>
                <a:cs typeface="Times New Roman"/>
                <a:sym typeface="Times New Roman"/>
              </a:rPr>
              <a:t>Functions</a:t>
            </a:r>
            <a:r>
              <a:rPr lang="en-IN" sz="1600">
                <a:latin typeface="Times New Roman"/>
                <a:ea typeface="Times New Roman"/>
                <a:cs typeface="Times New Roman"/>
                <a:sym typeface="Times New Roman"/>
              </a:rPr>
              <a:t>: ReadPatient (Hiding Personal Details), UpdatePatientMedicalDetails, GetPatientHistory, QueryAllPatients (Who Has Granted Access).</a:t>
            </a:r>
            <a:endParaRPr sz="1600">
              <a:latin typeface="Times New Roman"/>
              <a:ea typeface="Times New Roman"/>
              <a:cs typeface="Times New Roman"/>
              <a:sym typeface="Times New Roman"/>
            </a:endParaRPr>
          </a:p>
          <a:p>
            <a:pPr marL="2743200" lvl="0" indent="0" algn="just" rtl="0">
              <a:spcBef>
                <a:spcPts val="0"/>
              </a:spcBef>
              <a:spcAft>
                <a:spcPts val="0"/>
              </a:spcAft>
              <a:buNone/>
            </a:pPr>
            <a:endParaRPr sz="1600">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IN" sz="1600" b="1" u="sng">
                <a:latin typeface="Times New Roman"/>
                <a:ea typeface="Times New Roman"/>
                <a:cs typeface="Times New Roman"/>
                <a:sym typeface="Times New Roman"/>
              </a:rPr>
              <a:t>Admin Contract:</a:t>
            </a:r>
            <a:r>
              <a:rPr lang="en-IN" sz="1600" b="1">
                <a:latin typeface="Times New Roman"/>
                <a:ea typeface="Times New Roman"/>
                <a:cs typeface="Times New Roman"/>
                <a:sym typeface="Times New Roman"/>
              </a:rPr>
              <a:t> </a:t>
            </a:r>
            <a:endParaRPr sz="1600" b="1">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a:latin typeface="Times New Roman"/>
                <a:ea typeface="Times New Roman"/>
                <a:cs typeface="Times New Roman"/>
                <a:sym typeface="Times New Roman"/>
              </a:rPr>
              <a:t>Overseen by the orderer, manages administrative functions.</a:t>
            </a:r>
            <a:endParaRPr sz="1600">
              <a:latin typeface="Times New Roman"/>
              <a:ea typeface="Times New Roman"/>
              <a:cs typeface="Times New Roman"/>
              <a:sym typeface="Times New Roman"/>
            </a:endParaRPr>
          </a:p>
          <a:p>
            <a:pPr marL="914400" lvl="0" indent="-330200" algn="just" rtl="0">
              <a:spcBef>
                <a:spcPts val="0"/>
              </a:spcBef>
              <a:spcAft>
                <a:spcPts val="0"/>
              </a:spcAft>
              <a:buSzPts val="1600"/>
              <a:buFont typeface="Times New Roman"/>
              <a:buChar char="-"/>
            </a:pPr>
            <a:r>
              <a:rPr lang="en-IN" sz="1600" b="1">
                <a:latin typeface="Times New Roman"/>
                <a:ea typeface="Times New Roman"/>
                <a:cs typeface="Times New Roman"/>
                <a:sym typeface="Times New Roman"/>
              </a:rPr>
              <a:t>Functions</a:t>
            </a:r>
            <a:r>
              <a:rPr lang="en-IN" sz="1600">
                <a:latin typeface="Times New Roman"/>
                <a:ea typeface="Times New Roman"/>
                <a:cs typeface="Times New Roman"/>
                <a:sym typeface="Times New Roman"/>
              </a:rPr>
              <a:t>: CreatePatient, DeletePatient, QueryAllPatients (Registered in Their Hospital).</a:t>
            </a:r>
            <a:endParaRPr sz="1600">
              <a:solidFill>
                <a:srgbClr val="374151"/>
              </a:solidFill>
              <a:highlight>
                <a:srgbClr val="F7F7F8"/>
              </a:highlight>
              <a:latin typeface="Times New Roman"/>
              <a:ea typeface="Times New Roman"/>
              <a:cs typeface="Times New Roman"/>
              <a:sym typeface="Times New Roman"/>
            </a:endParaRPr>
          </a:p>
          <a:p>
            <a:pPr marL="1828800" lvl="0" indent="0" algn="just" rtl="0">
              <a:lnSpc>
                <a:spcPct val="115000"/>
              </a:lnSpc>
              <a:spcBef>
                <a:spcPts val="0"/>
              </a:spcBef>
              <a:spcAft>
                <a:spcPts val="0"/>
              </a:spcAft>
              <a:buNone/>
            </a:pPr>
            <a:endParaRPr sz="1900" b="1">
              <a:latin typeface="Times New Roman"/>
              <a:ea typeface="Times New Roman"/>
              <a:cs typeface="Times New Roman"/>
              <a:sym typeface="Times New Roman"/>
            </a:endParaRPr>
          </a:p>
        </p:txBody>
      </p:sp>
      <p:pic>
        <p:nvPicPr>
          <p:cNvPr id="132" name="Google Shape;132;g2a98e909c6d_0_14"/>
          <p:cNvPicPr preferRelativeResize="0"/>
          <p:nvPr/>
        </p:nvPicPr>
        <p:blipFill>
          <a:blip r:embed="rId3">
            <a:alphaModFix/>
          </a:blip>
          <a:stretch>
            <a:fillRect/>
          </a:stretch>
        </p:blipFill>
        <p:spPr>
          <a:xfrm>
            <a:off x="7577652" y="296413"/>
            <a:ext cx="4433425" cy="64916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2a98e909c6d_0_52"/>
          <p:cNvSpPr txBox="1"/>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None/>
            </a:pPr>
            <a:r>
              <a:rPr lang="en-IN" sz="3400" b="1">
                <a:solidFill>
                  <a:srgbClr val="000000"/>
                </a:solidFill>
                <a:latin typeface="Times New Roman"/>
                <a:ea typeface="Times New Roman"/>
                <a:cs typeface="Times New Roman"/>
                <a:sym typeface="Times New Roman"/>
              </a:rPr>
              <a:t>Implementation</a:t>
            </a:r>
            <a:endParaRPr sz="4200" b="1">
              <a:solidFill>
                <a:srgbClr val="000000"/>
              </a:solidFill>
              <a:latin typeface="Times New Roman"/>
              <a:ea typeface="Times New Roman"/>
              <a:cs typeface="Times New Roman"/>
              <a:sym typeface="Times New Roman"/>
            </a:endParaRPr>
          </a:p>
        </p:txBody>
      </p:sp>
      <p:sp>
        <p:nvSpPr>
          <p:cNvPr id="138" name="Google Shape;138;g2a98e909c6d_0_52"/>
          <p:cNvSpPr txBox="1"/>
          <p:nvPr/>
        </p:nvSpPr>
        <p:spPr>
          <a:xfrm>
            <a:off x="284100" y="700800"/>
            <a:ext cx="11623800" cy="5834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IN" sz="2100" b="1" i="0" u="none" strike="noStrike" cap="none">
                <a:solidFill>
                  <a:srgbClr val="000000"/>
                </a:solidFill>
                <a:latin typeface="Times New Roman"/>
                <a:ea typeface="Times New Roman"/>
                <a:cs typeface="Times New Roman"/>
                <a:sym typeface="Times New Roman"/>
              </a:rPr>
              <a:t>MODULE </a:t>
            </a:r>
            <a:r>
              <a:rPr lang="en-IN" sz="2100" b="1">
                <a:latin typeface="Times New Roman"/>
                <a:ea typeface="Times New Roman"/>
                <a:cs typeface="Times New Roman"/>
                <a:sym typeface="Times New Roman"/>
              </a:rPr>
              <a:t>3 </a:t>
            </a:r>
            <a:r>
              <a:rPr lang="en-IN" sz="2100" b="1" i="0" u="none" strike="noStrike" cap="none">
                <a:solidFill>
                  <a:srgbClr val="000000"/>
                </a:solidFill>
                <a:latin typeface="Times New Roman"/>
                <a:ea typeface="Times New Roman"/>
                <a:cs typeface="Times New Roman"/>
                <a:sym typeface="Times New Roman"/>
              </a:rPr>
              <a:t>: </a:t>
            </a:r>
            <a:r>
              <a:rPr lang="en-IN" sz="2100" b="1">
                <a:solidFill>
                  <a:srgbClr val="000000"/>
                </a:solidFill>
                <a:latin typeface="Times New Roman"/>
                <a:ea typeface="Times New Roman"/>
                <a:cs typeface="Times New Roman"/>
                <a:sym typeface="Times New Roman"/>
              </a:rPr>
              <a:t>Image in Block</a:t>
            </a:r>
            <a:endParaRPr sz="2100" b="1">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2200" b="1">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100"/>
              <a:buFont typeface="Arial"/>
              <a:buNone/>
            </a:pPr>
            <a:r>
              <a:rPr lang="en-IN" sz="2200" b="1">
                <a:solidFill>
                  <a:srgbClr val="000000"/>
                </a:solidFill>
                <a:latin typeface="Times New Roman"/>
                <a:ea typeface="Times New Roman"/>
                <a:cs typeface="Times New Roman"/>
                <a:sym typeface="Times New Roman"/>
              </a:rPr>
              <a:t>  </a:t>
            </a:r>
            <a:r>
              <a:rPr lang="en-IN" sz="1800">
                <a:solidFill>
                  <a:srgbClr val="000000"/>
                </a:solidFill>
                <a:latin typeface="Times New Roman"/>
                <a:ea typeface="Times New Roman"/>
                <a:cs typeface="Times New Roman"/>
                <a:sym typeface="Times New Roman"/>
              </a:rPr>
              <a:t>The next challenge in the hyperledger fabric is storing the images in the network.</a:t>
            </a:r>
            <a:endParaRPr sz="1700">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100"/>
              <a:buFont typeface="Arial"/>
              <a:buNone/>
            </a:pPr>
            <a:r>
              <a:rPr lang="en-IN" sz="1700">
                <a:solidFill>
                  <a:srgbClr val="000000"/>
                </a:solidFill>
                <a:latin typeface="Times New Roman"/>
                <a:ea typeface="Times New Roman"/>
                <a:cs typeface="Times New Roman"/>
                <a:sym typeface="Times New Roman"/>
              </a:rPr>
              <a:t>   </a:t>
            </a:r>
            <a:r>
              <a:rPr lang="en-IN" sz="1800" b="1">
                <a:solidFill>
                  <a:srgbClr val="000000"/>
                </a:solidFill>
                <a:latin typeface="Times New Roman"/>
                <a:ea typeface="Times New Roman"/>
                <a:cs typeface="Times New Roman"/>
                <a:sym typeface="Times New Roman"/>
              </a:rPr>
              <a:t>Solution </a:t>
            </a:r>
            <a:r>
              <a:rPr lang="en-IN" sz="1800">
                <a:solidFill>
                  <a:srgbClr val="000000"/>
                </a:solidFill>
                <a:latin typeface="Times New Roman"/>
                <a:ea typeface="Times New Roman"/>
                <a:cs typeface="Times New Roman"/>
                <a:sym typeface="Times New Roman"/>
              </a:rPr>
              <a:t>: Use BASE64 encoding</a:t>
            </a:r>
            <a:endParaRPr sz="180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r>
              <a:rPr lang="en-IN" sz="1800">
                <a:solidFill>
                  <a:srgbClr val="000000"/>
                </a:solidFill>
                <a:latin typeface="Times New Roman"/>
                <a:ea typeface="Times New Roman"/>
                <a:cs typeface="Times New Roman"/>
                <a:sym typeface="Times New Roman"/>
              </a:rPr>
              <a:t>   Node.js Command to convert images to base64 data URIs</a:t>
            </a: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457200" algn="l" rtl="0">
              <a:spcBef>
                <a:spcPts val="0"/>
              </a:spcBef>
              <a:spcAft>
                <a:spcPts val="0"/>
              </a:spcAft>
              <a:buClr>
                <a:srgbClr val="000000"/>
              </a:buClr>
              <a:buSzPts val="1100"/>
              <a:buFont typeface="Arial"/>
              <a:buNone/>
            </a:pPr>
            <a:r>
              <a:rPr lang="en-IN" sz="1800">
                <a:solidFill>
                  <a:srgbClr val="000000"/>
                </a:solidFill>
                <a:latin typeface="Times New Roman"/>
                <a:ea typeface="Times New Roman"/>
                <a:cs typeface="Times New Roman"/>
                <a:sym typeface="Times New Roman"/>
              </a:rPr>
              <a:t>`node -e 'console.log(`data:image/png;base64,${fs.readFileSync(process.argv[1], "base64")}`)' /Users/project/image`</a:t>
            </a:r>
            <a:endParaRPr sz="1800">
              <a:solidFill>
                <a:srgbClr val="000000"/>
              </a:solidFill>
              <a:latin typeface="Times New Roman"/>
              <a:ea typeface="Times New Roman"/>
              <a:cs typeface="Times New Roman"/>
              <a:sym typeface="Times New Roman"/>
            </a:endParaRPr>
          </a:p>
          <a:p>
            <a:pPr marL="0" lvl="0" indent="45720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a:p>
            <a:pPr marL="0" lvl="0" indent="0" algn="l" rtl="0">
              <a:spcBef>
                <a:spcPts val="0"/>
              </a:spcBef>
              <a:spcAft>
                <a:spcPts val="0"/>
              </a:spcAft>
              <a:buClr>
                <a:srgbClr val="000000"/>
              </a:buClr>
              <a:buSzPts val="1100"/>
              <a:buFont typeface="Arial"/>
              <a:buNone/>
            </a:pPr>
            <a:r>
              <a:rPr lang="en-IN" sz="1800">
                <a:latin typeface="Times New Roman"/>
                <a:ea typeface="Times New Roman"/>
                <a:cs typeface="Times New Roman"/>
                <a:sym typeface="Times New Roman"/>
              </a:rPr>
              <a:t>   Paste the copied Base64 data URI into the ledger as a secure and tamper-proof representation of the image.</a:t>
            </a:r>
            <a:endParaRPr sz="180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800">
              <a:solidFill>
                <a:srgbClr val="000000"/>
              </a:solidFill>
              <a:latin typeface="Times New Roman"/>
              <a:ea typeface="Times New Roman"/>
              <a:cs typeface="Times New Roman"/>
              <a:sym typeface="Times New Roman"/>
            </a:endParaRPr>
          </a:p>
        </p:txBody>
      </p:sp>
      <p:pic>
        <p:nvPicPr>
          <p:cNvPr id="139" name="Google Shape;139;g2a98e909c6d_0_52"/>
          <p:cNvPicPr preferRelativeResize="0"/>
          <p:nvPr/>
        </p:nvPicPr>
        <p:blipFill>
          <a:blip r:embed="rId3">
            <a:alphaModFix/>
          </a:blip>
          <a:stretch>
            <a:fillRect/>
          </a:stretch>
        </p:blipFill>
        <p:spPr>
          <a:xfrm>
            <a:off x="2953750" y="3527725"/>
            <a:ext cx="1385200" cy="1387950"/>
          </a:xfrm>
          <a:prstGeom prst="rect">
            <a:avLst/>
          </a:prstGeom>
          <a:noFill/>
          <a:ln>
            <a:noFill/>
          </a:ln>
        </p:spPr>
      </p:pic>
      <p:sp>
        <p:nvSpPr>
          <p:cNvPr id="140" name="Google Shape;140;g2a98e909c6d_0_52"/>
          <p:cNvSpPr/>
          <p:nvPr/>
        </p:nvSpPr>
        <p:spPr>
          <a:xfrm>
            <a:off x="4685850" y="3968025"/>
            <a:ext cx="1641000" cy="426900"/>
          </a:xfrm>
          <a:prstGeom prst="rightArrow">
            <a:avLst>
              <a:gd name="adj1" fmla="val 50000"/>
              <a:gd name="adj2" fmla="val 50000"/>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41" name="Google Shape;141;g2a98e909c6d_0_52"/>
          <p:cNvPicPr preferRelativeResize="0"/>
          <p:nvPr/>
        </p:nvPicPr>
        <p:blipFill>
          <a:blip r:embed="rId4">
            <a:alphaModFix/>
          </a:blip>
          <a:stretch>
            <a:fillRect/>
          </a:stretch>
        </p:blipFill>
        <p:spPr>
          <a:xfrm>
            <a:off x="6497200" y="3377724"/>
            <a:ext cx="3932146" cy="1831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2a98e909c6d_0_41"/>
          <p:cNvSpPr txBox="1"/>
          <p:nvPr/>
        </p:nvSpPr>
        <p:spPr>
          <a:xfrm>
            <a:off x="782125" y="0"/>
            <a:ext cx="107466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None/>
            </a:pPr>
            <a:r>
              <a:rPr lang="en-IN" sz="3400" b="1">
                <a:solidFill>
                  <a:srgbClr val="000000"/>
                </a:solidFill>
                <a:latin typeface="Times New Roman"/>
                <a:ea typeface="Times New Roman"/>
                <a:cs typeface="Times New Roman"/>
                <a:sym typeface="Times New Roman"/>
              </a:rPr>
              <a:t>Implementation</a:t>
            </a:r>
            <a:endParaRPr sz="4200" b="1">
              <a:solidFill>
                <a:srgbClr val="000000"/>
              </a:solidFill>
              <a:latin typeface="Times New Roman"/>
              <a:ea typeface="Times New Roman"/>
              <a:cs typeface="Times New Roman"/>
              <a:sym typeface="Times New Roman"/>
            </a:endParaRPr>
          </a:p>
        </p:txBody>
      </p:sp>
      <p:sp>
        <p:nvSpPr>
          <p:cNvPr id="147" name="Google Shape;147;g2a98e909c6d_0_41"/>
          <p:cNvSpPr txBox="1"/>
          <p:nvPr/>
        </p:nvSpPr>
        <p:spPr>
          <a:xfrm>
            <a:off x="284100" y="916375"/>
            <a:ext cx="11623800" cy="5834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IN" sz="2100" b="1" i="0" u="none" strike="noStrike" cap="none">
                <a:solidFill>
                  <a:srgbClr val="000000"/>
                </a:solidFill>
                <a:latin typeface="Times New Roman"/>
                <a:ea typeface="Times New Roman"/>
                <a:cs typeface="Times New Roman"/>
                <a:sym typeface="Times New Roman"/>
              </a:rPr>
              <a:t>MODULE 4: </a:t>
            </a:r>
            <a:r>
              <a:rPr lang="en-IN" sz="2100" b="1">
                <a:solidFill>
                  <a:srgbClr val="000000"/>
                </a:solidFill>
                <a:latin typeface="Times New Roman"/>
                <a:ea typeface="Times New Roman"/>
                <a:cs typeface="Times New Roman"/>
                <a:sym typeface="Times New Roman"/>
              </a:rPr>
              <a:t>Web Application Development</a:t>
            </a:r>
            <a:endParaRPr sz="21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100"/>
              <a:buFont typeface="Arial"/>
              <a:buNone/>
            </a:pPr>
            <a:endParaRPr sz="1000" b="1">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100"/>
              <a:buFont typeface="Arial"/>
              <a:buNone/>
            </a:pPr>
            <a:r>
              <a:rPr lang="en-IN" sz="1700" b="1">
                <a:solidFill>
                  <a:srgbClr val="000000"/>
                </a:solidFill>
                <a:latin typeface="Times New Roman"/>
                <a:ea typeface="Times New Roman"/>
                <a:cs typeface="Times New Roman"/>
                <a:sym typeface="Times New Roman"/>
              </a:rPr>
              <a:t>Front-end: AngularJS </a:t>
            </a:r>
            <a:endParaRPr sz="1700" b="1">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100"/>
              <a:buFont typeface="Arial"/>
              <a:buNone/>
            </a:pPr>
            <a:r>
              <a:rPr lang="en-IN" sz="1700" b="1">
                <a:solidFill>
                  <a:srgbClr val="000000"/>
                </a:solidFill>
                <a:latin typeface="Times New Roman"/>
                <a:ea typeface="Times New Roman"/>
                <a:cs typeface="Times New Roman"/>
                <a:sym typeface="Times New Roman"/>
              </a:rPr>
              <a:t>Backend : NodeJS</a:t>
            </a:r>
            <a:endParaRPr sz="1700" b="1">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00"/>
              <a:buFont typeface="Arial"/>
              <a:buNone/>
            </a:pPr>
            <a:endParaRPr sz="1700" b="1">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rgbClr val="000000"/>
              </a:solidFill>
              <a:highlight>
                <a:srgbClr val="F7F7F8"/>
              </a:highlight>
              <a:latin typeface="Times New Roman"/>
              <a:ea typeface="Times New Roman"/>
              <a:cs typeface="Times New Roman"/>
              <a:sym typeface="Times New Roman"/>
            </a:endParaRPr>
          </a:p>
        </p:txBody>
      </p:sp>
      <p:pic>
        <p:nvPicPr>
          <p:cNvPr id="148" name="Google Shape;148;g2a98e909c6d_0_41"/>
          <p:cNvPicPr preferRelativeResize="0"/>
          <p:nvPr/>
        </p:nvPicPr>
        <p:blipFill rotWithShape="1">
          <a:blip r:embed="rId3">
            <a:alphaModFix/>
          </a:blip>
          <a:srcRect l="12469" r="11357" b="9165"/>
          <a:stretch/>
        </p:blipFill>
        <p:spPr>
          <a:xfrm>
            <a:off x="2368200" y="2199343"/>
            <a:ext cx="7542365" cy="45791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a98e909c6d_0_62"/>
          <p:cNvSpPr txBox="1"/>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N" sz="3600" b="1">
                <a:solidFill>
                  <a:srgbClr val="000000"/>
                </a:solidFill>
                <a:latin typeface="Times New Roman"/>
                <a:ea typeface="Times New Roman"/>
                <a:cs typeface="Times New Roman"/>
                <a:sym typeface="Times New Roman"/>
              </a:rPr>
              <a:t>                                   </a:t>
            </a:r>
            <a:r>
              <a:rPr lang="en-IN" sz="3400" b="1">
                <a:solidFill>
                  <a:srgbClr val="000000"/>
                </a:solidFill>
                <a:latin typeface="Times New Roman"/>
                <a:ea typeface="Times New Roman"/>
                <a:cs typeface="Times New Roman"/>
                <a:sym typeface="Times New Roman"/>
              </a:rPr>
              <a:t> Implementation</a:t>
            </a:r>
            <a:endParaRPr sz="4200" b="1">
              <a:solidFill>
                <a:srgbClr val="000000"/>
              </a:solidFill>
              <a:latin typeface="Times New Roman"/>
              <a:ea typeface="Times New Roman"/>
              <a:cs typeface="Times New Roman"/>
              <a:sym typeface="Times New Roman"/>
            </a:endParaRPr>
          </a:p>
        </p:txBody>
      </p:sp>
      <p:sp>
        <p:nvSpPr>
          <p:cNvPr id="154" name="Google Shape;154;g2a98e909c6d_0_62"/>
          <p:cNvSpPr txBox="1"/>
          <p:nvPr/>
        </p:nvSpPr>
        <p:spPr>
          <a:xfrm>
            <a:off x="578975" y="714100"/>
            <a:ext cx="11116500" cy="6049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IN" sz="2000" b="1" i="0" u="none" strike="noStrike" cap="none" dirty="0">
                <a:solidFill>
                  <a:srgbClr val="000000"/>
                </a:solidFill>
                <a:latin typeface="Times New Roman"/>
                <a:ea typeface="Times New Roman"/>
                <a:cs typeface="Times New Roman"/>
                <a:sym typeface="Times New Roman"/>
              </a:rPr>
              <a:t>MODULE </a:t>
            </a:r>
            <a:r>
              <a:rPr lang="en-IN" sz="2000" b="1" dirty="0">
                <a:latin typeface="Times New Roman"/>
                <a:ea typeface="Times New Roman"/>
                <a:cs typeface="Times New Roman"/>
                <a:sym typeface="Times New Roman"/>
              </a:rPr>
              <a:t>5</a:t>
            </a:r>
            <a:r>
              <a:rPr lang="en-IN" sz="2000" b="1" i="0" u="none" strike="noStrike" cap="none" dirty="0">
                <a:solidFill>
                  <a:srgbClr val="000000"/>
                </a:solidFill>
                <a:latin typeface="Times New Roman"/>
                <a:ea typeface="Times New Roman"/>
                <a:cs typeface="Times New Roman"/>
                <a:sym typeface="Times New Roman"/>
              </a:rPr>
              <a:t>: </a:t>
            </a:r>
            <a:r>
              <a:rPr lang="en-IN" sz="2000" b="1" dirty="0">
                <a:latin typeface="Times New Roman"/>
                <a:ea typeface="Times New Roman"/>
                <a:cs typeface="Times New Roman"/>
                <a:sym typeface="Times New Roman"/>
              </a:rPr>
              <a:t>XAI Implementation</a:t>
            </a:r>
            <a:endParaRPr sz="2000" b="1"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2000" b="1" dirty="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IN" sz="2000" b="1" dirty="0">
                <a:latin typeface="Times New Roman"/>
                <a:ea typeface="Times New Roman"/>
                <a:cs typeface="Times New Roman"/>
                <a:sym typeface="Times New Roman"/>
              </a:rPr>
              <a:t>Data preprocessing:</a:t>
            </a:r>
            <a:endParaRPr sz="2000" b="1"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Dataset received contains an image folder and a csv file for labelling the image. </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Python code is developed to label the images and grouping them under their class folder.</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Classes: Glaucoma, Cataract, Age related macular degeneration, Pathological Myopia</a:t>
            </a:r>
            <a:endParaRPr sz="2000" dirty="0">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2000" dirty="0">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IN" sz="2000" b="1" dirty="0">
                <a:latin typeface="Times New Roman"/>
                <a:ea typeface="Times New Roman"/>
                <a:cs typeface="Times New Roman"/>
                <a:sym typeface="Times New Roman"/>
              </a:rPr>
              <a:t>Model design:</a:t>
            </a:r>
            <a:endParaRPr sz="2000" b="1"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Pre-trained models such as MobileNet, ResNet50, VGG16, VGG19 are appended with a dense layer of class size 4.</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Custom Convolutional Neural Network (CNN) is designed with the desired layers.</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These models are trained and saved.</a:t>
            </a:r>
            <a:endParaRPr sz="2000" dirty="0">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dirty="0">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IN" sz="2000" b="1" dirty="0">
                <a:latin typeface="Times New Roman"/>
                <a:ea typeface="Times New Roman"/>
                <a:cs typeface="Times New Roman"/>
                <a:sym typeface="Times New Roman"/>
              </a:rPr>
              <a:t>XAI Integration:</a:t>
            </a:r>
            <a:endParaRPr sz="2000" b="1"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The saved models are loaded and the LIME package is loaded.</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The lime explainer is set to the model to interpret the images.</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The input image is pre-processed according to the model input layer and given to LIME explainer.</a:t>
            </a:r>
            <a:endParaRPr sz="2000" dirty="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AutoNum type="arabicPeriod"/>
            </a:pPr>
            <a:r>
              <a:rPr lang="en-IN" sz="2000" dirty="0">
                <a:latin typeface="Times New Roman"/>
                <a:ea typeface="Times New Roman"/>
                <a:cs typeface="Times New Roman"/>
                <a:sym typeface="Times New Roman"/>
              </a:rPr>
              <a:t>The marker returned by LIME is added as layer to the input image.</a:t>
            </a:r>
            <a:endParaRPr sz="1800" b="0" i="0" u="none" strike="noStrike" cap="none" dirty="0">
              <a:solidFill>
                <a:srgbClr val="374151"/>
              </a:solidFill>
              <a:highlight>
                <a:srgbClr val="F7F7F8"/>
              </a:highlight>
              <a:latin typeface="Times New Roman"/>
              <a:ea typeface="Times New Roman"/>
              <a:cs typeface="Times New Roman"/>
              <a:sym typeface="Times New Roman"/>
            </a:endParaRPr>
          </a:p>
          <a:p>
            <a:pPr marL="1828800" marR="0" lvl="0" indent="0" algn="just" rtl="0">
              <a:lnSpc>
                <a:spcPct val="115000"/>
              </a:lnSpc>
              <a:spcBef>
                <a:spcPts val="0"/>
              </a:spcBef>
              <a:spcAft>
                <a:spcPts val="0"/>
              </a:spcAft>
              <a:buClr>
                <a:srgbClr val="000000"/>
              </a:buClr>
              <a:buSzPts val="2100"/>
              <a:buFont typeface="Arial"/>
              <a:buNone/>
            </a:pPr>
            <a:endParaRPr sz="2100" b="1"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24c6a5eee9c_0_5"/>
          <p:cNvSpPr txBox="1">
            <a:spLocks noGrp="1"/>
          </p:cNvSpPr>
          <p:nvPr>
            <p:ph type="title"/>
          </p:nvPr>
        </p:nvSpPr>
        <p:spPr>
          <a:xfrm>
            <a:off x="782125" y="152400"/>
            <a:ext cx="107466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Implementation</a:t>
            </a:r>
            <a:endParaRPr sz="4200" b="1">
              <a:latin typeface="Times New Roman"/>
              <a:ea typeface="Times New Roman"/>
              <a:cs typeface="Times New Roman"/>
              <a:sym typeface="Times New Roman"/>
            </a:endParaRPr>
          </a:p>
        </p:txBody>
      </p:sp>
      <p:sp>
        <p:nvSpPr>
          <p:cNvPr id="160" name="Google Shape;160;g24c6a5eee9c_0_5"/>
          <p:cNvSpPr txBox="1"/>
          <p:nvPr/>
        </p:nvSpPr>
        <p:spPr>
          <a:xfrm>
            <a:off x="284100" y="916375"/>
            <a:ext cx="11623800" cy="5834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IN" sz="2200" b="1" i="0" u="none" strike="noStrike" cap="none">
                <a:solidFill>
                  <a:schemeClr val="dk1"/>
                </a:solidFill>
                <a:latin typeface="Times New Roman"/>
                <a:ea typeface="Times New Roman"/>
                <a:cs typeface="Times New Roman"/>
                <a:sym typeface="Times New Roman"/>
              </a:rPr>
              <a:t>MODULE </a:t>
            </a:r>
            <a:r>
              <a:rPr lang="en-IN" sz="2200" b="1">
                <a:solidFill>
                  <a:schemeClr val="dk1"/>
                </a:solidFill>
                <a:latin typeface="Times New Roman"/>
                <a:ea typeface="Times New Roman"/>
                <a:cs typeface="Times New Roman"/>
                <a:sym typeface="Times New Roman"/>
              </a:rPr>
              <a:t>6</a:t>
            </a:r>
            <a:r>
              <a:rPr lang="en-IN" sz="2200" b="1" i="0" u="none" strike="noStrike" cap="none">
                <a:solidFill>
                  <a:schemeClr val="dk1"/>
                </a:solidFill>
                <a:latin typeface="Times New Roman"/>
                <a:ea typeface="Times New Roman"/>
                <a:cs typeface="Times New Roman"/>
                <a:sym typeface="Times New Roman"/>
              </a:rPr>
              <a:t>: Parameter Tuning and adding</a:t>
            </a:r>
            <a:r>
              <a:rPr lang="en-IN" sz="2200" b="1">
                <a:solidFill>
                  <a:schemeClr val="dk1"/>
                </a:solidFill>
                <a:latin typeface="Times New Roman"/>
                <a:ea typeface="Times New Roman"/>
                <a:cs typeface="Times New Roman"/>
                <a:sym typeface="Times New Roman"/>
              </a:rPr>
              <a:t> classes</a:t>
            </a:r>
            <a:endParaRPr sz="22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100"/>
              <a:buFont typeface="Arial"/>
              <a:buNone/>
            </a:pPr>
            <a:endParaRPr sz="10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chemeClr val="dk1"/>
              </a:solidFill>
              <a:highlight>
                <a:srgbClr val="F7F7F8"/>
              </a:highlight>
              <a:latin typeface="Times New Roman"/>
              <a:ea typeface="Times New Roman"/>
              <a:cs typeface="Times New Roman"/>
              <a:sym typeface="Times New Roman"/>
            </a:endParaRPr>
          </a:p>
        </p:txBody>
      </p:sp>
      <p:sp>
        <p:nvSpPr>
          <p:cNvPr id="161" name="Google Shape;161;g24c6a5eee9c_0_5"/>
          <p:cNvSpPr txBox="1"/>
          <p:nvPr/>
        </p:nvSpPr>
        <p:spPr>
          <a:xfrm>
            <a:off x="928875" y="1718200"/>
            <a:ext cx="10827900" cy="4253400"/>
          </a:xfrm>
          <a:prstGeom prst="rect">
            <a:avLst/>
          </a:prstGeom>
          <a:noFill/>
          <a:ln>
            <a:noFill/>
          </a:ln>
        </p:spPr>
        <p:txBody>
          <a:bodyPr spcFirstLastPara="1" wrap="square" lIns="91425" tIns="91425" rIns="91425" bIns="91425" anchor="t" anchorCtr="0">
            <a:spAutoFit/>
          </a:bodyPr>
          <a:lstStyle/>
          <a:p>
            <a:pPr marL="457200" marR="0" lvl="0" indent="-361950" algn="l" rtl="0">
              <a:lnSpc>
                <a:spcPct val="100000"/>
              </a:lnSpc>
              <a:spcBef>
                <a:spcPts val="0"/>
              </a:spcBef>
              <a:spcAft>
                <a:spcPts val="0"/>
              </a:spcAft>
              <a:buClr>
                <a:srgbClr val="000000"/>
              </a:buClr>
              <a:buSzPts val="2100"/>
              <a:buFont typeface="Times New Roman"/>
              <a:buChar char="●"/>
            </a:pPr>
            <a:r>
              <a:rPr lang="en-IN" sz="2100" b="0" i="0" u="none" strike="noStrike" cap="none">
                <a:solidFill>
                  <a:srgbClr val="000000"/>
                </a:solidFill>
                <a:latin typeface="Times New Roman"/>
                <a:ea typeface="Times New Roman"/>
                <a:cs typeface="Times New Roman"/>
                <a:sym typeface="Times New Roman"/>
              </a:rPr>
              <a:t>The parameter tuning phase involved the systematic evaluation of optimizers for refining the MobileNet model.</a:t>
            </a:r>
            <a:endParaRPr sz="2100" b="0" i="0" u="none" strike="noStrike" cap="none">
              <a:solidFill>
                <a:srgbClr val="000000"/>
              </a:solidFill>
              <a:latin typeface="Times New Roman"/>
              <a:ea typeface="Times New Roman"/>
              <a:cs typeface="Times New Roman"/>
              <a:sym typeface="Times New Roman"/>
            </a:endParaRPr>
          </a:p>
          <a:p>
            <a:pPr marL="457200" marR="0" lvl="0" indent="-361950" algn="l" rtl="0">
              <a:lnSpc>
                <a:spcPct val="100000"/>
              </a:lnSpc>
              <a:spcBef>
                <a:spcPts val="1000"/>
              </a:spcBef>
              <a:spcAft>
                <a:spcPts val="0"/>
              </a:spcAft>
              <a:buClr>
                <a:srgbClr val="000000"/>
              </a:buClr>
              <a:buSzPts val="2100"/>
              <a:buFont typeface="Times New Roman"/>
              <a:buChar char="●"/>
            </a:pPr>
            <a:r>
              <a:rPr lang="en-IN" sz="2100" b="0" i="0" u="none" strike="noStrike" cap="none">
                <a:solidFill>
                  <a:srgbClr val="000000"/>
                </a:solidFill>
                <a:latin typeface="Times New Roman"/>
                <a:ea typeface="Times New Roman"/>
                <a:cs typeface="Times New Roman"/>
                <a:sym typeface="Times New Roman"/>
              </a:rPr>
              <a:t>Adagrad, RMSProp, Adam, and Stochastic Gradient Descent (SGD) were selected as the key optimizers under consideration.</a:t>
            </a:r>
            <a:endParaRPr sz="2100" b="0" i="0" u="none" strike="noStrike" cap="none">
              <a:solidFill>
                <a:srgbClr val="000000"/>
              </a:solidFill>
              <a:latin typeface="Times New Roman"/>
              <a:ea typeface="Times New Roman"/>
              <a:cs typeface="Times New Roman"/>
              <a:sym typeface="Times New Roman"/>
            </a:endParaRPr>
          </a:p>
          <a:p>
            <a:pPr marL="457200" marR="0" lvl="0" indent="-361950" algn="l" rtl="0">
              <a:lnSpc>
                <a:spcPct val="100000"/>
              </a:lnSpc>
              <a:spcBef>
                <a:spcPts val="1000"/>
              </a:spcBef>
              <a:spcAft>
                <a:spcPts val="0"/>
              </a:spcAft>
              <a:buClr>
                <a:srgbClr val="000000"/>
              </a:buClr>
              <a:buSzPts val="2100"/>
              <a:buFont typeface="Times New Roman"/>
              <a:buChar char="●"/>
            </a:pPr>
            <a:r>
              <a:rPr lang="en-IN" sz="2100" b="0" i="0" u="none" strike="noStrike" cap="none">
                <a:solidFill>
                  <a:srgbClr val="000000"/>
                </a:solidFill>
                <a:latin typeface="Times New Roman"/>
                <a:ea typeface="Times New Roman"/>
                <a:cs typeface="Times New Roman"/>
                <a:sym typeface="Times New Roman"/>
              </a:rPr>
              <a:t>Each optimizer was employed to gauge its impact on the training and testing phases of the MobileNet model.</a:t>
            </a:r>
            <a:endParaRPr sz="2100" b="0" i="0" u="none" strike="noStrike" cap="none">
              <a:solidFill>
                <a:srgbClr val="000000"/>
              </a:solidFill>
              <a:latin typeface="Times New Roman"/>
              <a:ea typeface="Times New Roman"/>
              <a:cs typeface="Times New Roman"/>
              <a:sym typeface="Times New Roman"/>
            </a:endParaRPr>
          </a:p>
          <a:p>
            <a:pPr marL="457200" marR="0" lvl="0" indent="-361950" algn="l" rtl="0">
              <a:lnSpc>
                <a:spcPct val="100000"/>
              </a:lnSpc>
              <a:spcBef>
                <a:spcPts val="1000"/>
              </a:spcBef>
              <a:spcAft>
                <a:spcPts val="0"/>
              </a:spcAft>
              <a:buClr>
                <a:srgbClr val="000000"/>
              </a:buClr>
              <a:buSzPts val="2100"/>
              <a:buFont typeface="Times New Roman"/>
              <a:buChar char="●"/>
            </a:pPr>
            <a:r>
              <a:rPr lang="en-IN" sz="2100" b="0" i="0" u="none" strike="noStrike" cap="none">
                <a:solidFill>
                  <a:srgbClr val="000000"/>
                </a:solidFill>
                <a:latin typeface="Times New Roman"/>
                <a:ea typeface="Times New Roman"/>
                <a:cs typeface="Times New Roman"/>
                <a:sym typeface="Times New Roman"/>
              </a:rPr>
              <a:t>The objective was to discern the optimizer's influence on achieving efficient convergence during training while ensuring the model's robust generalization to new, unseen data.</a:t>
            </a:r>
            <a:endParaRPr sz="2100" b="0" i="0" u="none" strike="noStrike" cap="none">
              <a:solidFill>
                <a:srgbClr val="000000"/>
              </a:solidFill>
              <a:latin typeface="Times New Roman"/>
              <a:ea typeface="Times New Roman"/>
              <a:cs typeface="Times New Roman"/>
              <a:sym typeface="Times New Roman"/>
            </a:endParaRPr>
          </a:p>
          <a:p>
            <a:pPr marL="457200" marR="0" lvl="0" indent="-361950" algn="l" rtl="0">
              <a:lnSpc>
                <a:spcPct val="100000"/>
              </a:lnSpc>
              <a:spcBef>
                <a:spcPts val="1000"/>
              </a:spcBef>
              <a:spcAft>
                <a:spcPts val="1000"/>
              </a:spcAft>
              <a:buSzPts val="2100"/>
              <a:buFont typeface="Times New Roman"/>
              <a:buChar char="●"/>
            </a:pPr>
            <a:r>
              <a:rPr lang="en-IN" sz="2100">
                <a:latin typeface="Times New Roman"/>
                <a:ea typeface="Times New Roman"/>
                <a:cs typeface="Times New Roman"/>
                <a:sym typeface="Times New Roman"/>
              </a:rPr>
              <a:t>Additionally, four classes were added to the dataset and the models are trained.The classes include Glaucoma, Cataract, Age related macular degeneration, Pathological Myopia, Diabetes, Hypertension, Normal, Others.</a:t>
            </a:r>
            <a:endParaRPr sz="21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26165d23a78_0_13"/>
          <p:cNvSpPr txBox="1">
            <a:spLocks noGrp="1"/>
          </p:cNvSpPr>
          <p:nvPr>
            <p:ph type="title"/>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Implementation</a:t>
            </a:r>
            <a:endParaRPr sz="4200" b="1">
              <a:latin typeface="Times New Roman"/>
              <a:ea typeface="Times New Roman"/>
              <a:cs typeface="Times New Roman"/>
              <a:sym typeface="Times New Roman"/>
            </a:endParaRPr>
          </a:p>
        </p:txBody>
      </p:sp>
      <p:sp>
        <p:nvSpPr>
          <p:cNvPr id="167" name="Google Shape;167;g26165d23a78_0_13"/>
          <p:cNvSpPr txBox="1"/>
          <p:nvPr/>
        </p:nvSpPr>
        <p:spPr>
          <a:xfrm>
            <a:off x="364150" y="717925"/>
            <a:ext cx="11623800" cy="5834100"/>
          </a:xfrm>
          <a:prstGeom prst="rect">
            <a:avLst/>
          </a:prstGeom>
          <a:noFill/>
          <a:ln>
            <a:noFill/>
          </a:ln>
        </p:spPr>
        <p:txBody>
          <a:bodyPr spcFirstLastPara="1" wrap="square" lIns="91425" tIns="91425" rIns="91425" bIns="9142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IN" sz="2100" b="1" i="0" u="none" strike="noStrike" cap="none">
                <a:solidFill>
                  <a:srgbClr val="000000"/>
                </a:solidFill>
                <a:latin typeface="Times New Roman"/>
                <a:ea typeface="Times New Roman"/>
                <a:cs typeface="Times New Roman"/>
                <a:sym typeface="Times New Roman"/>
              </a:rPr>
              <a:t>MODULE </a:t>
            </a:r>
            <a:r>
              <a:rPr lang="en-IN" sz="2100" b="1">
                <a:latin typeface="Times New Roman"/>
                <a:ea typeface="Times New Roman"/>
                <a:cs typeface="Times New Roman"/>
                <a:sym typeface="Times New Roman"/>
              </a:rPr>
              <a:t>7</a:t>
            </a:r>
            <a:r>
              <a:rPr lang="en-IN" sz="2100" b="1" i="0" u="none" strike="noStrike" cap="none">
                <a:solidFill>
                  <a:srgbClr val="000000"/>
                </a:solidFill>
                <a:latin typeface="Times New Roman"/>
                <a:ea typeface="Times New Roman"/>
                <a:cs typeface="Times New Roman"/>
                <a:sym typeface="Times New Roman"/>
              </a:rPr>
              <a:t>: Integrating HLF with XAI</a:t>
            </a:r>
            <a:endParaRPr sz="2800" b="1" i="0" u="none" strike="noStrike" cap="none">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100"/>
              <a:buFont typeface="Arial"/>
              <a:buNone/>
            </a:pPr>
            <a:r>
              <a:rPr lang="en-IN" sz="1900" b="1" i="0" u="none" strike="noStrike" cap="none">
                <a:solidFill>
                  <a:srgbClr val="0F0F0F"/>
                </a:solidFill>
                <a:latin typeface="Times New Roman"/>
                <a:ea typeface="Times New Roman"/>
                <a:cs typeface="Times New Roman"/>
                <a:sym typeface="Times New Roman"/>
              </a:rPr>
              <a:t>Challenge:</a:t>
            </a:r>
            <a:endParaRPr sz="1900" b="1" i="0" u="none" strike="noStrike" cap="none">
              <a:solidFill>
                <a:srgbClr val="0F0F0F"/>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rgbClr val="0F0F0F"/>
              </a:buClr>
              <a:buSzPts val="1800"/>
              <a:buFont typeface="Times New Roman"/>
              <a:buChar char="●"/>
            </a:pPr>
            <a:r>
              <a:rPr lang="en-IN" sz="1800" b="0" i="0" u="none" strike="noStrike" cap="none">
                <a:solidFill>
                  <a:srgbClr val="0F0F0F"/>
                </a:solidFill>
                <a:latin typeface="Times New Roman"/>
                <a:ea typeface="Times New Roman"/>
                <a:cs typeface="Times New Roman"/>
                <a:sym typeface="Times New Roman"/>
              </a:rPr>
              <a:t>Hyperledger Fabric, by default, doesn't support direct integration of XAI models.</a:t>
            </a:r>
            <a:endParaRPr sz="1800" b="0" i="0" u="none" strike="noStrike" cap="none">
              <a:solidFill>
                <a:srgbClr val="0F0F0F"/>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rgbClr val="0F0F0F"/>
              </a:buClr>
              <a:buSzPts val="1800"/>
              <a:buFont typeface="Times New Roman"/>
              <a:buChar char="●"/>
            </a:pPr>
            <a:r>
              <a:rPr lang="en-IN" sz="1800" b="0" i="0" u="none" strike="noStrike" cap="none">
                <a:solidFill>
                  <a:srgbClr val="0F0F0F"/>
                </a:solidFill>
                <a:latin typeface="Times New Roman"/>
                <a:ea typeface="Times New Roman"/>
                <a:cs typeface="Times New Roman"/>
                <a:sym typeface="Times New Roman"/>
              </a:rPr>
              <a:t>To address this limitation, the Lime XAI model and the MobileNetV2 CNN model were encapsulated within a Docker container.</a:t>
            </a:r>
            <a:endParaRPr sz="2200" b="0" i="0" u="sng" strike="noStrike" cap="none">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1100"/>
              <a:buFont typeface="Arial"/>
              <a:buNone/>
            </a:pPr>
            <a:r>
              <a:rPr lang="en-IN" sz="2000" b="1" i="0" u="sng" strike="noStrike" cap="none">
                <a:solidFill>
                  <a:srgbClr val="0F0F0F"/>
                </a:solidFill>
                <a:latin typeface="Times New Roman"/>
                <a:ea typeface="Times New Roman"/>
                <a:cs typeface="Times New Roman"/>
                <a:sym typeface="Times New Roman"/>
              </a:rPr>
              <a:t>Solution:</a:t>
            </a:r>
            <a:endParaRPr sz="2400" b="0" i="0" u="sng" strike="noStrike" cap="none">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900"/>
              <a:buFont typeface="Arial"/>
              <a:buNone/>
            </a:pPr>
            <a:r>
              <a:rPr lang="en-IN" sz="1900" b="1" i="0" u="none" strike="noStrike" cap="none">
                <a:solidFill>
                  <a:schemeClr val="dk1"/>
                </a:solidFill>
                <a:latin typeface="Times New Roman"/>
                <a:ea typeface="Times New Roman"/>
                <a:cs typeface="Times New Roman"/>
                <a:sym typeface="Times New Roman"/>
              </a:rPr>
              <a:t>Docker Containerization:</a:t>
            </a:r>
            <a:endParaRPr sz="1900" b="1" i="0" u="none" strike="noStrike" cap="none">
              <a:solidFill>
                <a:schemeClr val="dk1"/>
              </a:solidFill>
              <a:latin typeface="Times New Roman"/>
              <a:ea typeface="Times New Roman"/>
              <a:cs typeface="Times New Roman"/>
              <a:sym typeface="Times New Roman"/>
            </a:endParaRPr>
          </a:p>
          <a:p>
            <a:pPr marL="457200" marR="0" lvl="0" indent="-342900" algn="l" rtl="0">
              <a:lnSpc>
                <a:spcPct val="115000"/>
              </a:lnSpc>
              <a:spcBef>
                <a:spcPts val="1500"/>
              </a:spcBef>
              <a:spcAft>
                <a:spcPts val="0"/>
              </a:spcAft>
              <a:buClr>
                <a:schemeClr val="dk1"/>
              </a:buClr>
              <a:buSzPts val="1800"/>
              <a:buFont typeface="Times New Roman"/>
              <a:buChar char="●"/>
            </a:pPr>
            <a:r>
              <a:rPr lang="en-IN" sz="1800" b="0" i="0" u="none" strike="noStrike" cap="none">
                <a:solidFill>
                  <a:schemeClr val="dk1"/>
                </a:solidFill>
                <a:latin typeface="Times New Roman"/>
                <a:ea typeface="Times New Roman"/>
                <a:cs typeface="Times New Roman"/>
                <a:sym typeface="Times New Roman"/>
              </a:rPr>
              <a:t>Both the Lime XAI model and the MobileNetV2 CNN model were packaged into a Docker container.</a:t>
            </a:r>
            <a:endParaRPr sz="1800" b="0" i="0" u="none" strike="noStrike" cap="none">
              <a:solidFill>
                <a:schemeClr val="dk1"/>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chemeClr val="dk1"/>
              </a:buClr>
              <a:buSzPts val="1800"/>
              <a:buFont typeface="Times New Roman"/>
              <a:buChar char="●"/>
            </a:pPr>
            <a:r>
              <a:rPr lang="en-IN" sz="1800" b="0" i="0" u="none" strike="noStrike" cap="none">
                <a:solidFill>
                  <a:schemeClr val="dk1"/>
                </a:solidFill>
                <a:latin typeface="Times New Roman"/>
                <a:ea typeface="Times New Roman"/>
                <a:cs typeface="Times New Roman"/>
                <a:sym typeface="Times New Roman"/>
              </a:rPr>
              <a:t>Docker containers provide an efficient and portable solution for bundling applications and their dependencies.</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500"/>
              </a:spcBef>
              <a:spcAft>
                <a:spcPts val="0"/>
              </a:spcAft>
              <a:buClr>
                <a:srgbClr val="000000"/>
              </a:buClr>
              <a:buSzPts val="1900"/>
              <a:buFont typeface="Arial"/>
              <a:buNone/>
            </a:pPr>
            <a:r>
              <a:rPr lang="en-IN" sz="1900" b="1" i="0" u="none" strike="noStrike" cap="none">
                <a:solidFill>
                  <a:schemeClr val="dk1"/>
                </a:solidFill>
                <a:latin typeface="Times New Roman"/>
                <a:ea typeface="Times New Roman"/>
                <a:cs typeface="Times New Roman"/>
                <a:sym typeface="Times New Roman"/>
              </a:rPr>
              <a:t>Deployment in Hyperledger Fabric Nodes:</a:t>
            </a:r>
            <a:endParaRPr sz="1900" b="1" i="0" u="none" strike="noStrike" cap="none">
              <a:solidFill>
                <a:schemeClr val="dk1"/>
              </a:solidFill>
              <a:latin typeface="Times New Roman"/>
              <a:ea typeface="Times New Roman"/>
              <a:cs typeface="Times New Roman"/>
              <a:sym typeface="Times New Roman"/>
            </a:endParaRPr>
          </a:p>
          <a:p>
            <a:pPr marL="457200" marR="0" lvl="0" indent="-342900" algn="l" rtl="0">
              <a:lnSpc>
                <a:spcPct val="115000"/>
              </a:lnSpc>
              <a:spcBef>
                <a:spcPts val="1500"/>
              </a:spcBef>
              <a:spcAft>
                <a:spcPts val="0"/>
              </a:spcAft>
              <a:buClr>
                <a:schemeClr val="dk1"/>
              </a:buClr>
              <a:buSzPts val="1800"/>
              <a:buFont typeface="Times New Roman"/>
              <a:buChar char="●"/>
            </a:pPr>
            <a:r>
              <a:rPr lang="en-IN" sz="1800" b="0" i="0" u="none" strike="noStrike" cap="none">
                <a:solidFill>
                  <a:schemeClr val="dk1"/>
                </a:solidFill>
                <a:latin typeface="Times New Roman"/>
                <a:ea typeface="Times New Roman"/>
                <a:cs typeface="Times New Roman"/>
                <a:sym typeface="Times New Roman"/>
              </a:rPr>
              <a:t>The Docker container, housing both the XAI and CNN models, was deployed across nodes within the Hyperledger Fabric network.</a:t>
            </a:r>
            <a:endParaRPr sz="1800" b="0" i="0" u="none" strike="noStrike" cap="none">
              <a:solidFill>
                <a:schemeClr val="dk1"/>
              </a:solidFill>
              <a:latin typeface="Times New Roman"/>
              <a:ea typeface="Times New Roman"/>
              <a:cs typeface="Times New Roman"/>
              <a:sym typeface="Times New Roman"/>
            </a:endParaRPr>
          </a:p>
          <a:p>
            <a:pPr marL="457200" marR="0" lvl="0" indent="-342900" algn="l" rtl="0">
              <a:lnSpc>
                <a:spcPct val="115000"/>
              </a:lnSpc>
              <a:spcBef>
                <a:spcPts val="0"/>
              </a:spcBef>
              <a:spcAft>
                <a:spcPts val="0"/>
              </a:spcAft>
              <a:buClr>
                <a:schemeClr val="dk1"/>
              </a:buClr>
              <a:buSzPts val="1800"/>
              <a:buFont typeface="Times New Roman"/>
              <a:buChar char="●"/>
            </a:pPr>
            <a:r>
              <a:rPr lang="en-IN" sz="1800" b="0" i="0" u="none" strike="noStrike" cap="none">
                <a:solidFill>
                  <a:schemeClr val="dk1"/>
                </a:solidFill>
                <a:latin typeface="Times New Roman"/>
                <a:ea typeface="Times New Roman"/>
                <a:cs typeface="Times New Roman"/>
                <a:sym typeface="Times New Roman"/>
              </a:rPr>
              <a:t>This deployment strategy ensures that the XAI capabilities seamlessly coexist with the fabric's distributed ledger technology.</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1500"/>
              </a:spcBef>
              <a:spcAft>
                <a:spcPts val="0"/>
              </a:spcAft>
              <a:buClr>
                <a:srgbClr val="000000"/>
              </a:buClr>
              <a:buSzPts val="1100"/>
              <a:buFont typeface="Arial"/>
              <a:buNone/>
            </a:pP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29f3322158f_3_11"/>
          <p:cNvSpPr txBox="1">
            <a:spLocks noGrp="1"/>
          </p:cNvSpPr>
          <p:nvPr>
            <p:ph type="title"/>
          </p:nvPr>
        </p:nvSpPr>
        <p:spPr>
          <a:xfrm>
            <a:off x="81450" y="226525"/>
            <a:ext cx="120291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Results</a:t>
            </a:r>
            <a:endParaRPr sz="4200" b="1">
              <a:latin typeface="Times New Roman"/>
              <a:ea typeface="Times New Roman"/>
              <a:cs typeface="Times New Roman"/>
              <a:sym typeface="Times New Roman"/>
            </a:endParaRPr>
          </a:p>
        </p:txBody>
      </p:sp>
      <p:sp>
        <p:nvSpPr>
          <p:cNvPr id="173" name="Google Shape;173;g29f3322158f_3_11"/>
          <p:cNvSpPr txBox="1"/>
          <p:nvPr/>
        </p:nvSpPr>
        <p:spPr>
          <a:xfrm>
            <a:off x="350025" y="1477300"/>
            <a:ext cx="11904900" cy="4964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21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chemeClr val="dk1"/>
              </a:solidFill>
              <a:highlight>
                <a:srgbClr val="F7F7F8"/>
              </a:highlight>
              <a:latin typeface="Times New Roman"/>
              <a:ea typeface="Times New Roman"/>
              <a:cs typeface="Times New Roman"/>
              <a:sym typeface="Times New Roman"/>
            </a:endParaRPr>
          </a:p>
        </p:txBody>
      </p:sp>
      <p:pic>
        <p:nvPicPr>
          <p:cNvPr id="174" name="Google Shape;174;g29f3322158f_3_11"/>
          <p:cNvPicPr preferRelativeResize="0"/>
          <p:nvPr/>
        </p:nvPicPr>
        <p:blipFill rotWithShape="1">
          <a:blip r:embed="rId3">
            <a:alphaModFix/>
          </a:blip>
          <a:srcRect/>
          <a:stretch/>
        </p:blipFill>
        <p:spPr>
          <a:xfrm>
            <a:off x="502075" y="1837025"/>
            <a:ext cx="5531675" cy="3973675"/>
          </a:xfrm>
          <a:prstGeom prst="rect">
            <a:avLst/>
          </a:prstGeom>
          <a:noFill/>
          <a:ln>
            <a:noFill/>
          </a:ln>
        </p:spPr>
      </p:pic>
      <p:pic>
        <p:nvPicPr>
          <p:cNvPr id="175" name="Google Shape;175;g29f3322158f_3_11"/>
          <p:cNvPicPr preferRelativeResize="0"/>
          <p:nvPr/>
        </p:nvPicPr>
        <p:blipFill rotWithShape="1">
          <a:blip r:embed="rId4">
            <a:alphaModFix/>
          </a:blip>
          <a:srcRect/>
          <a:stretch/>
        </p:blipFill>
        <p:spPr>
          <a:xfrm>
            <a:off x="6329775" y="1921675"/>
            <a:ext cx="5172850" cy="3804375"/>
          </a:xfrm>
          <a:prstGeom prst="rect">
            <a:avLst/>
          </a:prstGeom>
          <a:noFill/>
          <a:ln>
            <a:noFill/>
          </a:ln>
        </p:spPr>
      </p:pic>
      <p:sp>
        <p:nvSpPr>
          <p:cNvPr id="176" name="Google Shape;176;g29f3322158f_3_11"/>
          <p:cNvSpPr/>
          <p:nvPr/>
        </p:nvSpPr>
        <p:spPr>
          <a:xfrm>
            <a:off x="1240971" y="2509935"/>
            <a:ext cx="1119674" cy="12129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2905ebad16b_1_0"/>
          <p:cNvSpPr txBox="1">
            <a:spLocks noGrp="1"/>
          </p:cNvSpPr>
          <p:nvPr>
            <p:ph type="title"/>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                                   </a:t>
            </a:r>
            <a:r>
              <a:rPr lang="en-IN" sz="3400" b="1">
                <a:latin typeface="Times New Roman"/>
                <a:ea typeface="Times New Roman"/>
                <a:cs typeface="Times New Roman"/>
                <a:sym typeface="Times New Roman"/>
              </a:rPr>
              <a:t>       Evaluation</a:t>
            </a:r>
            <a:endParaRPr sz="4200" b="1">
              <a:latin typeface="Times New Roman"/>
              <a:ea typeface="Times New Roman"/>
              <a:cs typeface="Times New Roman"/>
              <a:sym typeface="Times New Roman"/>
            </a:endParaRPr>
          </a:p>
        </p:txBody>
      </p:sp>
      <p:graphicFrame>
        <p:nvGraphicFramePr>
          <p:cNvPr id="182" name="Google Shape;182;g2905ebad16b_1_0"/>
          <p:cNvGraphicFramePr/>
          <p:nvPr/>
        </p:nvGraphicFramePr>
        <p:xfrm>
          <a:off x="712100" y="1240250"/>
          <a:ext cx="5051525" cy="3743450"/>
        </p:xfrm>
        <a:graphic>
          <a:graphicData uri="http://schemas.openxmlformats.org/drawingml/2006/table">
            <a:tbl>
              <a:tblPr>
                <a:noFill/>
                <a:tableStyleId>{F673D9FE-BDC4-40B4-A7A2-8061FF2EE775}</a:tableStyleId>
              </a:tblPr>
              <a:tblGrid>
                <a:gridCol w="1648800">
                  <a:extLst>
                    <a:ext uri="{9D8B030D-6E8A-4147-A177-3AD203B41FA5}">
                      <a16:colId xmlns:a16="http://schemas.microsoft.com/office/drawing/2014/main" val="20000"/>
                    </a:ext>
                  </a:extLst>
                </a:gridCol>
                <a:gridCol w="1241500">
                  <a:extLst>
                    <a:ext uri="{9D8B030D-6E8A-4147-A177-3AD203B41FA5}">
                      <a16:colId xmlns:a16="http://schemas.microsoft.com/office/drawing/2014/main" val="20001"/>
                    </a:ext>
                  </a:extLst>
                </a:gridCol>
                <a:gridCol w="2161225">
                  <a:extLst>
                    <a:ext uri="{9D8B030D-6E8A-4147-A177-3AD203B41FA5}">
                      <a16:colId xmlns:a16="http://schemas.microsoft.com/office/drawing/2014/main" val="20002"/>
                    </a:ext>
                  </a:extLst>
                </a:gridCol>
              </a:tblGrid>
              <a:tr h="488725">
                <a:tc>
                  <a:txBody>
                    <a:bodyPr/>
                    <a:lstStyle/>
                    <a:p>
                      <a:pPr marL="0" marR="0" lvl="0" indent="0" algn="ctr" rtl="0">
                        <a:lnSpc>
                          <a:spcPct val="100000"/>
                        </a:lnSpc>
                        <a:spcBef>
                          <a:spcPts val="0"/>
                        </a:spcBef>
                        <a:spcAft>
                          <a:spcPts val="0"/>
                        </a:spcAft>
                        <a:buClr>
                          <a:srgbClr val="000000"/>
                        </a:buClr>
                        <a:buSzPts val="1700"/>
                        <a:buFont typeface="Arial"/>
                        <a:buNone/>
                      </a:pPr>
                      <a:r>
                        <a:rPr lang="en-IN" sz="1700" b="1" u="none" strike="noStrike" cap="none"/>
                        <a:t>Model</a:t>
                      </a:r>
                      <a:endParaRPr sz="1700" b="1"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b="1" u="none" strike="noStrike" cap="none"/>
                        <a:t>Accuracy</a:t>
                      </a:r>
                      <a:endParaRPr sz="1700" b="1"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b="1" u="none" strike="noStrike" cap="none"/>
                        <a:t>Optimizer</a:t>
                      </a:r>
                      <a:endParaRPr sz="1700" b="1"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73050">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Custom CNN</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t>82</a:t>
                      </a:r>
                      <a:r>
                        <a:rPr lang="en-IN" sz="1900" u="none" strike="noStrike" cap="none"/>
                        <a:t>%</a:t>
                      </a:r>
                      <a:endParaRPr sz="18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Adam</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51550">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ResNet50</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t>78%</a:t>
                      </a:r>
                      <a:endParaRPr sz="18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RMSProp</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26375">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MobileNetV2</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t>88%</a:t>
                      </a:r>
                      <a:endParaRPr sz="18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SGD</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14450">
                <a:tc>
                  <a:txBody>
                    <a:bodyPr/>
                    <a:lstStyle/>
                    <a:p>
                      <a:pPr marL="0" marR="0" lvl="0" indent="0" algn="l" rtl="0">
                        <a:lnSpc>
                          <a:spcPct val="100000"/>
                        </a:lnSpc>
                        <a:spcBef>
                          <a:spcPts val="0"/>
                        </a:spcBef>
                        <a:spcAft>
                          <a:spcPts val="0"/>
                        </a:spcAft>
                        <a:buNone/>
                      </a:pPr>
                      <a:r>
                        <a:rPr lang="en-IN" sz="1600"/>
                        <a:t>VGG19</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6D7A8"/>
                    </a:solidFill>
                  </a:tcPr>
                </a:tc>
                <a:tc>
                  <a:txBody>
                    <a:bodyPr/>
                    <a:lstStyle/>
                    <a:p>
                      <a:pPr marL="0" marR="0" lvl="0" indent="0" algn="ctr" rtl="0">
                        <a:lnSpc>
                          <a:spcPct val="100000"/>
                        </a:lnSpc>
                        <a:spcBef>
                          <a:spcPts val="0"/>
                        </a:spcBef>
                        <a:spcAft>
                          <a:spcPts val="0"/>
                        </a:spcAft>
                        <a:buNone/>
                      </a:pPr>
                      <a:r>
                        <a:rPr lang="en-IN" sz="1800"/>
                        <a:t>95%</a:t>
                      </a:r>
                      <a:endParaRPr sz="18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6D7A8"/>
                    </a:solidFill>
                  </a:tcPr>
                </a:tc>
                <a:tc>
                  <a:txBody>
                    <a:bodyPr/>
                    <a:lstStyle/>
                    <a:p>
                      <a:pPr marL="0" marR="0" lvl="0" indent="0" algn="l" rtl="0">
                        <a:lnSpc>
                          <a:spcPct val="100000"/>
                        </a:lnSpc>
                        <a:spcBef>
                          <a:spcPts val="0"/>
                        </a:spcBef>
                        <a:spcAft>
                          <a:spcPts val="0"/>
                        </a:spcAft>
                        <a:buNone/>
                      </a:pPr>
                      <a:r>
                        <a:rPr lang="en-IN" sz="1600"/>
                        <a:t>Adam</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6D7A8"/>
                    </a:solidFill>
                  </a:tcPr>
                </a:tc>
                <a:extLst>
                  <a:ext uri="{0D108BD9-81ED-4DB2-BD59-A6C34878D82A}">
                    <a16:rowId xmlns:a16="http://schemas.microsoft.com/office/drawing/2014/main" val="10004"/>
                  </a:ext>
                </a:extLst>
              </a:tr>
              <a:tr h="689300">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VGG16</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t>64%</a:t>
                      </a:r>
                      <a:endParaRPr sz="18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IN" sz="1600" u="none" strike="noStrike" cap="none"/>
                        <a:t>RMSProp</a:t>
                      </a:r>
                      <a:endParaRPr sz="1600" u="none" strike="noStrike" cap="none"/>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83" name="Google Shape;183;g2905ebad16b_1_0"/>
          <p:cNvGraphicFramePr/>
          <p:nvPr/>
        </p:nvGraphicFramePr>
        <p:xfrm>
          <a:off x="5982950" y="1315350"/>
          <a:ext cx="5972175" cy="4575750"/>
        </p:xfrm>
        <a:graphic>
          <a:graphicData uri="http://schemas.openxmlformats.org/drawingml/2006/table">
            <a:tbl>
              <a:tblPr>
                <a:noFill/>
                <a:tableStyleId>{788FF26F-4CDD-4A5F-8F9D-C8E00F17BEBF}</a:tableStyleId>
              </a:tblPr>
              <a:tblGrid>
                <a:gridCol w="1628775">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tblGrid>
              <a:tr h="915150">
                <a:tc>
                  <a:txBody>
                    <a:bodyPr/>
                    <a:lstStyle/>
                    <a:p>
                      <a:pPr marL="0" marR="0" lvl="0" indent="0" algn="ctr" rtl="0">
                        <a:lnSpc>
                          <a:spcPct val="100000"/>
                        </a:lnSpc>
                        <a:spcBef>
                          <a:spcPts val="0"/>
                        </a:spcBef>
                        <a:spcAft>
                          <a:spcPts val="0"/>
                        </a:spcAft>
                        <a:buClr>
                          <a:srgbClr val="000000"/>
                        </a:buClr>
                        <a:buSzPts val="1700"/>
                        <a:buFont typeface="Arial"/>
                        <a:buNone/>
                      </a:pPr>
                      <a:r>
                        <a:rPr lang="en-IN" sz="1700" b="1" u="none" strike="noStrike" cap="none">
                          <a:latin typeface="Times New Roman"/>
                          <a:ea typeface="Times New Roman"/>
                          <a:cs typeface="Times New Roman"/>
                          <a:sym typeface="Times New Roman"/>
                        </a:rPr>
                        <a:t>OPTIMISER</a:t>
                      </a:r>
                      <a:endParaRPr sz="1700" b="1"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b="1" u="none" strike="noStrike" cap="none">
                          <a:latin typeface="Times New Roman"/>
                          <a:ea typeface="Times New Roman"/>
                          <a:cs typeface="Times New Roman"/>
                          <a:sym typeface="Times New Roman"/>
                        </a:rPr>
                        <a:t>TRAINING ACCURACY</a:t>
                      </a:r>
                      <a:endParaRPr sz="1700" b="1"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b="1" u="none" strike="noStrike" cap="none">
                          <a:latin typeface="Times New Roman"/>
                          <a:ea typeface="Times New Roman"/>
                          <a:cs typeface="Times New Roman"/>
                          <a:sym typeface="Times New Roman"/>
                        </a:rPr>
                        <a:t>TESTING ACCURACY</a:t>
                      </a:r>
                      <a:endParaRPr sz="1700" b="1"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0"/>
                  </a:ext>
                </a:extLst>
              </a:tr>
              <a:tr h="915150">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adagrad</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0.8438</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0.78</a:t>
                      </a:r>
                      <a:endParaRPr sz="17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1"/>
                  </a:ext>
                </a:extLst>
              </a:tr>
              <a:tr h="915150">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RMSProp</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0.8993</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0.72</a:t>
                      </a:r>
                      <a:endParaRPr sz="17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2"/>
                  </a:ext>
                </a:extLst>
              </a:tr>
              <a:tr h="915150">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Adam</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0.8669</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0.44</a:t>
                      </a:r>
                      <a:endParaRPr sz="17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3"/>
                  </a:ext>
                </a:extLst>
              </a:tr>
              <a:tr h="915150">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SGD</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0.8889</a:t>
                      </a:r>
                      <a:endParaRPr sz="1700" u="none" strike="noStrike" cap="none">
                        <a:latin typeface="Times New Roman"/>
                        <a:ea typeface="Times New Roman"/>
                        <a:cs typeface="Times New Roman"/>
                        <a:sym typeface="Times New Roman"/>
                      </a:endParaRPr>
                    </a:p>
                  </a:txBody>
                  <a:tcPr marL="63500" marR="63500" marT="63500" marB="63500"/>
                </a:tc>
                <a:tc>
                  <a:txBody>
                    <a:bodyPr/>
                    <a:lstStyle/>
                    <a:p>
                      <a:pPr marL="0" marR="0" lvl="0" indent="0" algn="ctr" rtl="0">
                        <a:lnSpc>
                          <a:spcPct val="100000"/>
                        </a:lnSpc>
                        <a:spcBef>
                          <a:spcPts val="0"/>
                        </a:spcBef>
                        <a:spcAft>
                          <a:spcPts val="0"/>
                        </a:spcAft>
                        <a:buClr>
                          <a:srgbClr val="000000"/>
                        </a:buClr>
                        <a:buSzPts val="1700"/>
                        <a:buFont typeface="Arial"/>
                        <a:buNone/>
                      </a:pPr>
                      <a:r>
                        <a:rPr lang="en-IN" sz="1700" u="none" strike="noStrike" cap="none">
                          <a:latin typeface="Times New Roman"/>
                          <a:ea typeface="Times New Roman"/>
                          <a:cs typeface="Times New Roman"/>
                          <a:sym typeface="Times New Roman"/>
                        </a:rPr>
                        <a:t>0.69</a:t>
                      </a:r>
                      <a:endParaRPr sz="17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4"/>
                  </a:ext>
                </a:extLst>
              </a:tr>
            </a:tbl>
          </a:graphicData>
        </a:graphic>
      </p:graphicFrame>
      <p:sp>
        <p:nvSpPr>
          <p:cNvPr id="184" name="Google Shape;184;g2905ebad16b_1_0"/>
          <p:cNvSpPr txBox="1"/>
          <p:nvPr/>
        </p:nvSpPr>
        <p:spPr>
          <a:xfrm>
            <a:off x="6167250" y="797200"/>
            <a:ext cx="5459100" cy="396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IN" sz="2200" b="0" i="0" u="none" strike="noStrike" cap="none">
                <a:solidFill>
                  <a:schemeClr val="dk1"/>
                </a:solidFill>
                <a:latin typeface="Times New Roman"/>
                <a:ea typeface="Times New Roman"/>
                <a:cs typeface="Times New Roman"/>
                <a:sym typeface="Times New Roman"/>
              </a:rPr>
              <a:t>MobileNetV2 with different optimizers</a:t>
            </a:r>
            <a:endParaRPr sz="2200" b="0" i="0" u="none" strike="noStrike" cap="none">
              <a:solidFill>
                <a:schemeClr val="dk1"/>
              </a:solidFill>
              <a:latin typeface="Times New Roman"/>
              <a:ea typeface="Times New Roman"/>
              <a:cs typeface="Times New Roman"/>
              <a:sym typeface="Times New Roman"/>
            </a:endParaRPr>
          </a:p>
        </p:txBody>
      </p:sp>
      <p:sp>
        <p:nvSpPr>
          <p:cNvPr id="185" name="Google Shape;185;g2905ebad16b_1_0"/>
          <p:cNvSpPr txBox="1"/>
          <p:nvPr/>
        </p:nvSpPr>
        <p:spPr>
          <a:xfrm>
            <a:off x="581350" y="5016900"/>
            <a:ext cx="4882500"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000" b="1">
                <a:solidFill>
                  <a:schemeClr val="dk1"/>
                </a:solidFill>
                <a:latin typeface="Times New Roman"/>
                <a:ea typeface="Times New Roman"/>
                <a:cs typeface="Times New Roman"/>
                <a:sym typeface="Times New Roman"/>
              </a:rPr>
              <a:t>Test accuracy of VGG19: 80%</a:t>
            </a:r>
            <a:endParaRPr sz="2000" b="1">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2615e346e51_0_6"/>
          <p:cNvSpPr txBox="1">
            <a:spLocks noGrp="1"/>
          </p:cNvSpPr>
          <p:nvPr>
            <p:ph type="title"/>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  </a:t>
            </a:r>
            <a:r>
              <a:rPr lang="en-IN" sz="3400" b="1">
                <a:latin typeface="Times New Roman"/>
                <a:ea typeface="Times New Roman"/>
                <a:cs typeface="Times New Roman"/>
                <a:sym typeface="Times New Roman"/>
              </a:rPr>
              <a:t>Results</a:t>
            </a:r>
            <a:endParaRPr sz="4200" b="1">
              <a:latin typeface="Times New Roman"/>
              <a:ea typeface="Times New Roman"/>
              <a:cs typeface="Times New Roman"/>
              <a:sym typeface="Times New Roman"/>
            </a:endParaRPr>
          </a:p>
        </p:txBody>
      </p:sp>
      <p:sp>
        <p:nvSpPr>
          <p:cNvPr id="191" name="Google Shape;191;g2615e346e51_0_6"/>
          <p:cNvSpPr txBox="1"/>
          <p:nvPr/>
        </p:nvSpPr>
        <p:spPr>
          <a:xfrm>
            <a:off x="345000" y="666850"/>
            <a:ext cx="11623800" cy="608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chemeClr val="dk1"/>
              </a:solidFill>
              <a:highlight>
                <a:srgbClr val="F7F7F8"/>
              </a:highlight>
              <a:latin typeface="Times New Roman"/>
              <a:ea typeface="Times New Roman"/>
              <a:cs typeface="Times New Roman"/>
              <a:sym typeface="Times New Roman"/>
            </a:endParaRPr>
          </a:p>
        </p:txBody>
      </p:sp>
      <p:pic>
        <p:nvPicPr>
          <p:cNvPr id="192" name="Google Shape;192;g2615e346e51_0_6"/>
          <p:cNvPicPr preferRelativeResize="0"/>
          <p:nvPr/>
        </p:nvPicPr>
        <p:blipFill rotWithShape="1">
          <a:blip r:embed="rId3">
            <a:alphaModFix/>
          </a:blip>
          <a:srcRect/>
          <a:stretch/>
        </p:blipFill>
        <p:spPr>
          <a:xfrm>
            <a:off x="643100" y="2629072"/>
            <a:ext cx="2013400" cy="2006100"/>
          </a:xfrm>
          <a:prstGeom prst="rect">
            <a:avLst/>
          </a:prstGeom>
          <a:noFill/>
          <a:ln>
            <a:noFill/>
          </a:ln>
        </p:spPr>
      </p:pic>
      <p:pic>
        <p:nvPicPr>
          <p:cNvPr id="193" name="Google Shape;193;g2615e346e51_0_6"/>
          <p:cNvPicPr preferRelativeResize="0"/>
          <p:nvPr/>
        </p:nvPicPr>
        <p:blipFill rotWithShape="1">
          <a:blip r:embed="rId4">
            <a:alphaModFix/>
          </a:blip>
          <a:srcRect/>
          <a:stretch/>
        </p:blipFill>
        <p:spPr>
          <a:xfrm>
            <a:off x="3212875" y="2621772"/>
            <a:ext cx="2013400" cy="2020695"/>
          </a:xfrm>
          <a:prstGeom prst="rect">
            <a:avLst/>
          </a:prstGeom>
          <a:noFill/>
          <a:ln>
            <a:noFill/>
          </a:ln>
        </p:spPr>
      </p:pic>
      <p:cxnSp>
        <p:nvCxnSpPr>
          <p:cNvPr id="194" name="Google Shape;194;g2615e346e51_0_6"/>
          <p:cNvCxnSpPr>
            <a:stCxn id="192" idx="3"/>
            <a:endCxn id="193" idx="1"/>
          </p:cNvCxnSpPr>
          <p:nvPr/>
        </p:nvCxnSpPr>
        <p:spPr>
          <a:xfrm>
            <a:off x="2656500" y="3632122"/>
            <a:ext cx="556500" cy="0"/>
          </a:xfrm>
          <a:prstGeom prst="straightConnector1">
            <a:avLst/>
          </a:prstGeom>
          <a:noFill/>
          <a:ln w="38100" cap="flat" cmpd="sng">
            <a:solidFill>
              <a:schemeClr val="dk1"/>
            </a:solidFill>
            <a:prstDash val="solid"/>
            <a:round/>
            <a:headEnd type="none" w="sm" len="sm"/>
            <a:tailEnd type="stealth" w="med" len="med"/>
          </a:ln>
        </p:spPr>
      </p:cxnSp>
      <p:sp>
        <p:nvSpPr>
          <p:cNvPr id="195" name="Google Shape;195;g2615e346e51_0_6"/>
          <p:cNvSpPr txBox="1"/>
          <p:nvPr/>
        </p:nvSpPr>
        <p:spPr>
          <a:xfrm>
            <a:off x="643100" y="4758550"/>
            <a:ext cx="1905000" cy="47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Input image</a:t>
            </a:r>
            <a:endParaRPr sz="1800" b="0" i="0" u="none" strike="noStrike" cap="none">
              <a:solidFill>
                <a:schemeClr val="dk1"/>
              </a:solidFill>
              <a:latin typeface="Calibri"/>
              <a:ea typeface="Calibri"/>
              <a:cs typeface="Calibri"/>
              <a:sym typeface="Calibri"/>
            </a:endParaRPr>
          </a:p>
        </p:txBody>
      </p:sp>
      <p:sp>
        <p:nvSpPr>
          <p:cNvPr id="196" name="Google Shape;196;g2615e346e51_0_6"/>
          <p:cNvSpPr txBox="1"/>
          <p:nvPr/>
        </p:nvSpPr>
        <p:spPr>
          <a:xfrm>
            <a:off x="3212875" y="4818975"/>
            <a:ext cx="1905000" cy="47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XAI output</a:t>
            </a:r>
            <a:endParaRPr sz="1800" b="0" i="0" u="none" strike="noStrike" cap="none">
              <a:solidFill>
                <a:schemeClr val="dk1"/>
              </a:solidFill>
              <a:latin typeface="Calibri"/>
              <a:ea typeface="Calibri"/>
              <a:cs typeface="Calibri"/>
              <a:sym typeface="Calibri"/>
            </a:endParaRPr>
          </a:p>
        </p:txBody>
      </p:sp>
      <p:pic>
        <p:nvPicPr>
          <p:cNvPr id="197" name="Google Shape;197;g2615e346e51_0_6"/>
          <p:cNvPicPr preferRelativeResize="0"/>
          <p:nvPr/>
        </p:nvPicPr>
        <p:blipFill rotWithShape="1">
          <a:blip r:embed="rId5">
            <a:alphaModFix/>
          </a:blip>
          <a:srcRect/>
          <a:stretch/>
        </p:blipFill>
        <p:spPr>
          <a:xfrm>
            <a:off x="8734850" y="2635176"/>
            <a:ext cx="2013400" cy="1993899"/>
          </a:xfrm>
          <a:prstGeom prst="rect">
            <a:avLst/>
          </a:prstGeom>
          <a:noFill/>
          <a:ln>
            <a:noFill/>
          </a:ln>
        </p:spPr>
      </p:pic>
      <p:pic>
        <p:nvPicPr>
          <p:cNvPr id="198" name="Google Shape;198;g2615e346e51_0_6"/>
          <p:cNvPicPr preferRelativeResize="0"/>
          <p:nvPr/>
        </p:nvPicPr>
        <p:blipFill rotWithShape="1">
          <a:blip r:embed="rId3">
            <a:alphaModFix/>
          </a:blip>
          <a:srcRect/>
          <a:stretch/>
        </p:blipFill>
        <p:spPr>
          <a:xfrm>
            <a:off x="6231650" y="2629072"/>
            <a:ext cx="2013400" cy="2006100"/>
          </a:xfrm>
          <a:prstGeom prst="rect">
            <a:avLst/>
          </a:prstGeom>
          <a:noFill/>
          <a:ln>
            <a:noFill/>
          </a:ln>
        </p:spPr>
      </p:pic>
      <p:cxnSp>
        <p:nvCxnSpPr>
          <p:cNvPr id="199" name="Google Shape;199;g2615e346e51_0_6"/>
          <p:cNvCxnSpPr/>
          <p:nvPr/>
        </p:nvCxnSpPr>
        <p:spPr>
          <a:xfrm>
            <a:off x="8190850" y="3632122"/>
            <a:ext cx="556500" cy="0"/>
          </a:xfrm>
          <a:prstGeom prst="straightConnector1">
            <a:avLst/>
          </a:prstGeom>
          <a:noFill/>
          <a:ln w="38100" cap="flat" cmpd="sng">
            <a:solidFill>
              <a:schemeClr val="dk1"/>
            </a:solidFill>
            <a:prstDash val="solid"/>
            <a:round/>
            <a:headEnd type="none" w="sm" len="sm"/>
            <a:tailEnd type="stealth" w="med" len="med"/>
          </a:ln>
        </p:spPr>
      </p:cxnSp>
      <p:sp>
        <p:nvSpPr>
          <p:cNvPr id="200" name="Google Shape;200;g2615e346e51_0_6"/>
          <p:cNvSpPr txBox="1"/>
          <p:nvPr/>
        </p:nvSpPr>
        <p:spPr>
          <a:xfrm>
            <a:off x="6285850" y="4758550"/>
            <a:ext cx="1905000" cy="47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Input image</a:t>
            </a:r>
            <a:endParaRPr sz="1800" b="0" i="0" u="none" strike="noStrike" cap="none">
              <a:solidFill>
                <a:schemeClr val="dk1"/>
              </a:solidFill>
              <a:latin typeface="Calibri"/>
              <a:ea typeface="Calibri"/>
              <a:cs typeface="Calibri"/>
              <a:sym typeface="Calibri"/>
            </a:endParaRPr>
          </a:p>
        </p:txBody>
      </p:sp>
      <p:sp>
        <p:nvSpPr>
          <p:cNvPr id="201" name="Google Shape;201;g2615e346e51_0_6"/>
          <p:cNvSpPr txBox="1"/>
          <p:nvPr/>
        </p:nvSpPr>
        <p:spPr>
          <a:xfrm>
            <a:off x="8789050" y="4818975"/>
            <a:ext cx="1905000" cy="47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XAI output</a:t>
            </a:r>
            <a:endParaRPr sz="1800" b="0" i="0" u="none" strike="noStrike" cap="none">
              <a:solidFill>
                <a:schemeClr val="dk1"/>
              </a:solidFill>
              <a:latin typeface="Calibri"/>
              <a:ea typeface="Calibri"/>
              <a:cs typeface="Calibri"/>
              <a:sym typeface="Calibri"/>
            </a:endParaRPr>
          </a:p>
        </p:txBody>
      </p:sp>
      <p:sp>
        <p:nvSpPr>
          <p:cNvPr id="202" name="Google Shape;202;g2615e346e51_0_6"/>
          <p:cNvSpPr txBox="1"/>
          <p:nvPr/>
        </p:nvSpPr>
        <p:spPr>
          <a:xfrm>
            <a:off x="845600" y="2032600"/>
            <a:ext cx="4380900" cy="47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Before Parameter Tuning and adding classes</a:t>
            </a:r>
            <a:endParaRPr sz="1800" b="0" i="0" u="none" strike="noStrike" cap="none">
              <a:solidFill>
                <a:schemeClr val="dk1"/>
              </a:solidFill>
              <a:latin typeface="Calibri"/>
              <a:ea typeface="Calibri"/>
              <a:cs typeface="Calibri"/>
              <a:sym typeface="Calibri"/>
            </a:endParaRPr>
          </a:p>
        </p:txBody>
      </p:sp>
      <p:sp>
        <p:nvSpPr>
          <p:cNvPr id="203" name="Google Shape;203;g2615e346e51_0_6"/>
          <p:cNvSpPr txBox="1"/>
          <p:nvPr/>
        </p:nvSpPr>
        <p:spPr>
          <a:xfrm>
            <a:off x="6130675" y="2032600"/>
            <a:ext cx="4668600" cy="47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After Parameter Tuning and adding classes</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29f3322158f_3_19"/>
          <p:cNvSpPr txBox="1">
            <a:spLocks noGrp="1"/>
          </p:cNvSpPr>
          <p:nvPr>
            <p:ph type="title"/>
          </p:nvPr>
        </p:nvSpPr>
        <p:spPr>
          <a:xfrm>
            <a:off x="81450" y="0"/>
            <a:ext cx="120291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Results</a:t>
            </a:r>
            <a:endParaRPr sz="4200" b="1">
              <a:latin typeface="Times New Roman"/>
              <a:ea typeface="Times New Roman"/>
              <a:cs typeface="Times New Roman"/>
              <a:sym typeface="Times New Roman"/>
            </a:endParaRPr>
          </a:p>
        </p:txBody>
      </p:sp>
      <p:sp>
        <p:nvSpPr>
          <p:cNvPr id="209" name="Google Shape;209;g29f3322158f_3_19"/>
          <p:cNvSpPr txBox="1"/>
          <p:nvPr/>
        </p:nvSpPr>
        <p:spPr>
          <a:xfrm>
            <a:off x="647350" y="635775"/>
            <a:ext cx="11904900" cy="608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21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chemeClr val="dk1"/>
              </a:solidFill>
              <a:highlight>
                <a:srgbClr val="F7F7F8"/>
              </a:highlight>
              <a:latin typeface="Times New Roman"/>
              <a:ea typeface="Times New Roman"/>
              <a:cs typeface="Times New Roman"/>
              <a:sym typeface="Times New Roman"/>
            </a:endParaRPr>
          </a:p>
        </p:txBody>
      </p:sp>
      <p:pic>
        <p:nvPicPr>
          <p:cNvPr id="210" name="Google Shape;210;g29f3322158f_3_19"/>
          <p:cNvPicPr preferRelativeResize="0"/>
          <p:nvPr/>
        </p:nvPicPr>
        <p:blipFill rotWithShape="1">
          <a:blip r:embed="rId3">
            <a:alphaModFix/>
          </a:blip>
          <a:srcRect l="13321" t="12744" r="38341" b="7153"/>
          <a:stretch/>
        </p:blipFill>
        <p:spPr>
          <a:xfrm>
            <a:off x="3792375" y="1204363"/>
            <a:ext cx="5311901" cy="49516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2ab6901374b_0_5"/>
          <p:cNvSpPr txBox="1">
            <a:spLocks noGrp="1"/>
          </p:cNvSpPr>
          <p:nvPr>
            <p:ph type="title"/>
          </p:nvPr>
        </p:nvSpPr>
        <p:spPr>
          <a:xfrm>
            <a:off x="132413" y="0"/>
            <a:ext cx="12029100" cy="874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Individual Contributions</a:t>
            </a:r>
            <a:endParaRPr sz="4200" b="1">
              <a:latin typeface="Times New Roman"/>
              <a:ea typeface="Times New Roman"/>
              <a:cs typeface="Times New Roman"/>
              <a:sym typeface="Times New Roman"/>
            </a:endParaRPr>
          </a:p>
        </p:txBody>
      </p:sp>
      <p:sp>
        <p:nvSpPr>
          <p:cNvPr id="216" name="Google Shape;216;g2ab6901374b_0_5"/>
          <p:cNvSpPr txBox="1"/>
          <p:nvPr/>
        </p:nvSpPr>
        <p:spPr>
          <a:xfrm>
            <a:off x="647350" y="635775"/>
            <a:ext cx="11904900" cy="608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sz="21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1700" b="1"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700"/>
              <a:buFont typeface="Arial"/>
              <a:buNone/>
            </a:pPr>
            <a:endParaRPr sz="1700" b="0" i="0" u="none" strike="noStrike" cap="none">
              <a:solidFill>
                <a:schemeClr val="dk1"/>
              </a:solidFill>
              <a:highlight>
                <a:srgbClr val="F7F7F8"/>
              </a:highlight>
              <a:latin typeface="Times New Roman"/>
              <a:ea typeface="Times New Roman"/>
              <a:cs typeface="Times New Roman"/>
              <a:sym typeface="Times New Roman"/>
            </a:endParaRPr>
          </a:p>
        </p:txBody>
      </p:sp>
      <p:graphicFrame>
        <p:nvGraphicFramePr>
          <p:cNvPr id="217" name="Google Shape;217;g2ab6901374b_0_5"/>
          <p:cNvGraphicFramePr/>
          <p:nvPr/>
        </p:nvGraphicFramePr>
        <p:xfrm>
          <a:off x="304663" y="968675"/>
          <a:ext cx="11684575" cy="4053690"/>
        </p:xfrm>
        <a:graphic>
          <a:graphicData uri="http://schemas.openxmlformats.org/drawingml/2006/table">
            <a:tbl>
              <a:tblPr>
                <a:noFill/>
                <a:tableStyleId>{F673D9FE-BDC4-40B4-A7A2-8061FF2EE775}</a:tableStyleId>
              </a:tblPr>
              <a:tblGrid>
                <a:gridCol w="4344825">
                  <a:extLst>
                    <a:ext uri="{9D8B030D-6E8A-4147-A177-3AD203B41FA5}">
                      <a16:colId xmlns:a16="http://schemas.microsoft.com/office/drawing/2014/main" val="20000"/>
                    </a:ext>
                  </a:extLst>
                </a:gridCol>
                <a:gridCol w="3539675">
                  <a:extLst>
                    <a:ext uri="{9D8B030D-6E8A-4147-A177-3AD203B41FA5}">
                      <a16:colId xmlns:a16="http://schemas.microsoft.com/office/drawing/2014/main" val="20001"/>
                    </a:ext>
                  </a:extLst>
                </a:gridCol>
                <a:gridCol w="3800075">
                  <a:extLst>
                    <a:ext uri="{9D8B030D-6E8A-4147-A177-3AD203B41FA5}">
                      <a16:colId xmlns:a16="http://schemas.microsoft.com/office/drawing/2014/main" val="20002"/>
                    </a:ext>
                  </a:extLst>
                </a:gridCol>
              </a:tblGrid>
              <a:tr h="452625">
                <a:tc>
                  <a:txBody>
                    <a:bodyPr/>
                    <a:lstStyle/>
                    <a:p>
                      <a:pPr marL="0" marR="0" lvl="0" indent="0" algn="ctr" rtl="0">
                        <a:lnSpc>
                          <a:spcPct val="100000"/>
                        </a:lnSpc>
                        <a:spcBef>
                          <a:spcPts val="0"/>
                        </a:spcBef>
                        <a:spcAft>
                          <a:spcPts val="0"/>
                        </a:spcAft>
                        <a:buClr>
                          <a:srgbClr val="000000"/>
                        </a:buClr>
                        <a:buSzPts val="1900"/>
                        <a:buFont typeface="Arial"/>
                        <a:buNone/>
                      </a:pPr>
                      <a:r>
                        <a:rPr lang="en-IN" sz="1900" b="1" u="none" strike="noStrike" cap="none">
                          <a:latin typeface="Times New Roman"/>
                          <a:ea typeface="Times New Roman"/>
                          <a:cs typeface="Times New Roman"/>
                          <a:sym typeface="Times New Roman"/>
                        </a:rPr>
                        <a:t>Sandhiya M - 2020506078</a:t>
                      </a:r>
                      <a:endParaRPr sz="1900" b="1"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3F3F3"/>
                    </a:solidFill>
                  </a:tcPr>
                </a:tc>
                <a:tc>
                  <a:txBody>
                    <a:bodyPr/>
                    <a:lstStyle/>
                    <a:p>
                      <a:pPr marL="0" marR="0" lvl="0" indent="0" algn="ctr" rtl="0">
                        <a:lnSpc>
                          <a:spcPct val="100000"/>
                        </a:lnSpc>
                        <a:spcBef>
                          <a:spcPts val="0"/>
                        </a:spcBef>
                        <a:spcAft>
                          <a:spcPts val="0"/>
                        </a:spcAft>
                        <a:buClr>
                          <a:srgbClr val="000000"/>
                        </a:buClr>
                        <a:buSzPts val="1900"/>
                        <a:buFont typeface="Arial"/>
                        <a:buNone/>
                      </a:pPr>
                      <a:r>
                        <a:rPr lang="en-IN" sz="1900" b="1" u="none" strike="noStrike" cap="none">
                          <a:latin typeface="Times New Roman"/>
                          <a:ea typeface="Times New Roman"/>
                          <a:cs typeface="Times New Roman"/>
                          <a:sym typeface="Times New Roman"/>
                        </a:rPr>
                        <a:t>Girish G - 2020506028</a:t>
                      </a:r>
                      <a:endParaRPr sz="1900" b="1"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3F3F3"/>
                    </a:solidFill>
                  </a:tcPr>
                </a:tc>
                <a:tc>
                  <a:txBody>
                    <a:bodyPr/>
                    <a:lstStyle/>
                    <a:p>
                      <a:pPr marL="0" marR="0" lvl="0" indent="0" algn="ctr" rtl="0">
                        <a:lnSpc>
                          <a:spcPct val="100000"/>
                        </a:lnSpc>
                        <a:spcBef>
                          <a:spcPts val="0"/>
                        </a:spcBef>
                        <a:spcAft>
                          <a:spcPts val="0"/>
                        </a:spcAft>
                        <a:buClr>
                          <a:srgbClr val="000000"/>
                        </a:buClr>
                        <a:buSzPts val="1900"/>
                        <a:buFont typeface="Arial"/>
                        <a:buNone/>
                      </a:pPr>
                      <a:r>
                        <a:rPr lang="en-IN" sz="1900" b="1" u="none" strike="noStrike" cap="none">
                          <a:latin typeface="Times New Roman"/>
                          <a:ea typeface="Times New Roman"/>
                          <a:cs typeface="Times New Roman"/>
                          <a:sym typeface="Times New Roman"/>
                        </a:rPr>
                        <a:t>Swetha Das R - 2020506100</a:t>
                      </a:r>
                      <a:endParaRPr sz="1900" b="1"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6175">
                <a:tc gridSpan="3">
                  <a:txBody>
                    <a:bodyPr/>
                    <a:lstStyle/>
                    <a:p>
                      <a:pPr marL="457200" marR="0" lvl="0" indent="-228600" algn="ctr" rtl="0">
                        <a:lnSpc>
                          <a:spcPct val="100000"/>
                        </a:lnSpc>
                        <a:spcBef>
                          <a:spcPts val="0"/>
                        </a:spcBef>
                        <a:spcAft>
                          <a:spcPts val="0"/>
                        </a:spcAft>
                        <a:buClr>
                          <a:srgbClr val="000000"/>
                        </a:buClr>
                        <a:buSzPts val="1700"/>
                        <a:buFont typeface="Arial"/>
                        <a:buNone/>
                      </a:pPr>
                      <a:r>
                        <a:rPr lang="en-IN" sz="1700" b="1">
                          <a:latin typeface="Times New Roman"/>
                          <a:ea typeface="Times New Roman"/>
                          <a:cs typeface="Times New Roman"/>
                          <a:sym typeface="Times New Roman"/>
                        </a:rPr>
                        <a:t>Blockchain</a:t>
                      </a:r>
                      <a:endParaRPr sz="1700" b="1"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877350">
                <a:tc>
                  <a:txBody>
                    <a:bodyPr/>
                    <a:lstStyle/>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Cryptogen configuration for Organisations</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Channel creation script</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Deploying chaincode script</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Doctor ledger</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Ledger distribution module to networks</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Patient-Contract</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Doctor-Contract</a:t>
                      </a:r>
                      <a:endParaRPr sz="1700">
                        <a:solidFill>
                          <a:schemeClr val="dk1"/>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lvl="0" indent="-336550" algn="l" rtl="0">
                        <a:spcBef>
                          <a:spcPts val="0"/>
                        </a:spcBef>
                        <a:spcAft>
                          <a:spcPts val="0"/>
                        </a:spcAft>
                        <a:buSzPts val="1700"/>
                        <a:buFont typeface="Times New Roman"/>
                        <a:buChar char="●"/>
                      </a:pPr>
                      <a:r>
                        <a:rPr lang="en-IN" sz="1700">
                          <a:solidFill>
                            <a:schemeClr val="dk1"/>
                          </a:solidFill>
                          <a:latin typeface="Times New Roman"/>
                          <a:ea typeface="Times New Roman"/>
                          <a:cs typeface="Times New Roman"/>
                          <a:sym typeface="Times New Roman"/>
                        </a:rPr>
                        <a:t>Hyperledger Environment Setup</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Integrating network script</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Docker setup</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Patient Ledger</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Primary - Contract</a:t>
                      </a:r>
                      <a:endParaRPr sz="1700">
                        <a:solidFill>
                          <a:schemeClr val="dk1"/>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36550" algn="l" rtl="0">
                        <a:lnSpc>
                          <a:spcPct val="100000"/>
                        </a:lnSpc>
                        <a:spcBef>
                          <a:spcPts val="0"/>
                        </a:spcBef>
                        <a:spcAft>
                          <a:spcPts val="0"/>
                        </a:spcAft>
                        <a:buClr>
                          <a:srgbClr val="000000"/>
                        </a:buClr>
                        <a:buSzPts val="1700"/>
                        <a:buFont typeface="Times New Roman"/>
                        <a:buChar char="●"/>
                      </a:pPr>
                      <a:r>
                        <a:rPr lang="en-IN" sz="1700" u="none" strike="noStrike" cap="none">
                          <a:solidFill>
                            <a:srgbClr val="000000"/>
                          </a:solidFill>
                          <a:latin typeface="Times New Roman"/>
                          <a:ea typeface="Times New Roman"/>
                          <a:cs typeface="Times New Roman"/>
                          <a:sym typeface="Times New Roman"/>
                        </a:rPr>
                        <a:t>Finding the optimizers.</a:t>
                      </a:r>
                      <a:endParaRPr sz="1700" u="none" strike="noStrike" cap="none">
                        <a:solidFill>
                          <a:srgbClr val="000000"/>
                        </a:solidFill>
                        <a:latin typeface="Times New Roman"/>
                        <a:ea typeface="Times New Roman"/>
                        <a:cs typeface="Times New Roman"/>
                        <a:sym typeface="Times New Roman"/>
                      </a:endParaRPr>
                    </a:p>
                    <a:p>
                      <a:pPr marL="457200" marR="0" lvl="0" indent="-336550" algn="l" rtl="0">
                        <a:lnSpc>
                          <a:spcPct val="100000"/>
                        </a:lnSpc>
                        <a:spcBef>
                          <a:spcPts val="0"/>
                        </a:spcBef>
                        <a:spcAft>
                          <a:spcPts val="0"/>
                        </a:spcAft>
                        <a:buClr>
                          <a:srgbClr val="000000"/>
                        </a:buClr>
                        <a:buSzPts val="1700"/>
                        <a:buFont typeface="Times New Roman"/>
                        <a:buChar char="●"/>
                      </a:pPr>
                      <a:r>
                        <a:rPr lang="en-IN" sz="1700" u="none" strike="noStrike" cap="none">
                          <a:solidFill>
                            <a:srgbClr val="000000"/>
                          </a:solidFill>
                          <a:latin typeface="Times New Roman"/>
                          <a:ea typeface="Times New Roman"/>
                          <a:cs typeface="Times New Roman"/>
                          <a:sym typeface="Times New Roman"/>
                        </a:rPr>
                        <a:t>Worked with VGG16  parameter tuning</a:t>
                      </a:r>
                      <a:endParaRPr sz="1700" u="none" strike="noStrike" cap="none">
                        <a:solidFill>
                          <a:srgbClr val="000000"/>
                        </a:solidFill>
                        <a:latin typeface="Times New Roman"/>
                        <a:ea typeface="Times New Roman"/>
                        <a:cs typeface="Times New Roman"/>
                        <a:sym typeface="Times New Roman"/>
                      </a:endParaRPr>
                    </a:p>
                    <a:p>
                      <a:pPr marL="457200" lvl="0" indent="-336550" algn="l" rtl="0">
                        <a:spcBef>
                          <a:spcPts val="0"/>
                        </a:spcBef>
                        <a:spcAft>
                          <a:spcPts val="0"/>
                        </a:spcAft>
                        <a:buSzPts val="1700"/>
                        <a:buFont typeface="Times New Roman"/>
                        <a:buChar char="●"/>
                      </a:pPr>
                      <a:r>
                        <a:rPr lang="en-IN" sz="1700">
                          <a:solidFill>
                            <a:schemeClr val="dk1"/>
                          </a:solidFill>
                          <a:latin typeface="Times New Roman"/>
                          <a:ea typeface="Times New Roman"/>
                          <a:cs typeface="Times New Roman"/>
                          <a:sym typeface="Times New Roman"/>
                        </a:rPr>
                        <a:t>Admin-Contract</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Testing the chaincode deployment</a:t>
                      </a:r>
                      <a:endParaRPr sz="1700">
                        <a:solidFill>
                          <a:schemeClr val="dk1"/>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16175">
                <a:tc gridSpan="3">
                  <a:txBody>
                    <a:bodyPr/>
                    <a:lstStyle/>
                    <a:p>
                      <a:pPr marL="457200" marR="0" lvl="0" indent="-228600" algn="ctr" rtl="0">
                        <a:lnSpc>
                          <a:spcPct val="100000"/>
                        </a:lnSpc>
                        <a:spcBef>
                          <a:spcPts val="0"/>
                        </a:spcBef>
                        <a:spcAft>
                          <a:spcPts val="0"/>
                        </a:spcAft>
                        <a:buClr>
                          <a:srgbClr val="000000"/>
                        </a:buClr>
                        <a:buSzPts val="1100"/>
                        <a:buFont typeface="Arial"/>
                        <a:buNone/>
                      </a:pPr>
                      <a:r>
                        <a:rPr lang="en-IN" sz="1700" b="1">
                          <a:latin typeface="Times New Roman"/>
                          <a:ea typeface="Times New Roman"/>
                          <a:cs typeface="Times New Roman"/>
                          <a:sym typeface="Times New Roman"/>
                        </a:rPr>
                        <a:t>Web Application Development</a:t>
                      </a:r>
                      <a:endParaRPr sz="1700"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660175">
                <a:tc>
                  <a:txBody>
                    <a:bodyPr/>
                    <a:lstStyle/>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Backend development with NodeJS</a:t>
                      </a:r>
                      <a:endParaRPr sz="1700">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36550" algn="l" rtl="0">
                        <a:lnSpc>
                          <a:spcPct val="100000"/>
                        </a:lnSpc>
                        <a:spcBef>
                          <a:spcPts val="0"/>
                        </a:spcBef>
                        <a:spcAft>
                          <a:spcPts val="0"/>
                        </a:spcAft>
                        <a:buClr>
                          <a:srgbClr val="000000"/>
                        </a:buClr>
                        <a:buSzPts val="1700"/>
                        <a:buFont typeface="Times New Roman"/>
                        <a:buChar char="●"/>
                      </a:pPr>
                      <a:r>
                        <a:rPr lang="en-IN" sz="1700">
                          <a:solidFill>
                            <a:schemeClr val="dk1"/>
                          </a:solidFill>
                          <a:latin typeface="Times New Roman"/>
                          <a:ea typeface="Times New Roman"/>
                          <a:cs typeface="Times New Roman"/>
                          <a:sym typeface="Times New Roman"/>
                        </a:rPr>
                        <a:t>Front-end development with AngularJS</a:t>
                      </a:r>
                      <a:endParaRPr sz="1700">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36550" algn="l" rtl="0">
                        <a:lnSpc>
                          <a:spcPct val="100000"/>
                        </a:lnSpc>
                        <a:spcBef>
                          <a:spcPts val="0"/>
                        </a:spcBef>
                        <a:spcAft>
                          <a:spcPts val="0"/>
                        </a:spcAft>
                        <a:buClr>
                          <a:srgbClr val="000000"/>
                        </a:buClr>
                        <a:buSzPts val="1700"/>
                        <a:buFont typeface="Times New Roman"/>
                        <a:buChar char="●"/>
                      </a:pPr>
                      <a:r>
                        <a:rPr lang="en-IN" sz="1700" dirty="0">
                          <a:latin typeface="Times New Roman"/>
                          <a:ea typeface="Times New Roman"/>
                          <a:cs typeface="Times New Roman"/>
                          <a:sym typeface="Times New Roman"/>
                        </a:rPr>
                        <a:t>Image to URL conversion</a:t>
                      </a:r>
                      <a:endParaRPr sz="1700" u="none" strike="noStrike" cap="none" dirty="0">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218" name="Google Shape;218;g2ab6901374b_0_5"/>
          <p:cNvGraphicFramePr/>
          <p:nvPr>
            <p:extLst>
              <p:ext uri="{D42A27DB-BD31-4B8C-83A1-F6EECF244321}">
                <p14:modId xmlns:p14="http://schemas.microsoft.com/office/powerpoint/2010/main" val="1323221656"/>
              </p:ext>
            </p:extLst>
          </p:nvPr>
        </p:nvGraphicFramePr>
        <p:xfrm>
          <a:off x="304688" y="5022325"/>
          <a:ext cx="11684550" cy="1661100"/>
        </p:xfrm>
        <a:graphic>
          <a:graphicData uri="http://schemas.openxmlformats.org/drawingml/2006/table">
            <a:tbl>
              <a:tblPr>
                <a:noFill/>
                <a:tableStyleId>{023DCDED-4CDC-40B4-A735-F9C09451C1B8}</a:tableStyleId>
              </a:tblPr>
              <a:tblGrid>
                <a:gridCol w="4344800">
                  <a:extLst>
                    <a:ext uri="{9D8B030D-6E8A-4147-A177-3AD203B41FA5}">
                      <a16:colId xmlns:a16="http://schemas.microsoft.com/office/drawing/2014/main" val="20000"/>
                    </a:ext>
                  </a:extLst>
                </a:gridCol>
                <a:gridCol w="3539675">
                  <a:extLst>
                    <a:ext uri="{9D8B030D-6E8A-4147-A177-3AD203B41FA5}">
                      <a16:colId xmlns:a16="http://schemas.microsoft.com/office/drawing/2014/main" val="20001"/>
                    </a:ext>
                  </a:extLst>
                </a:gridCol>
                <a:gridCol w="3800075">
                  <a:extLst>
                    <a:ext uri="{9D8B030D-6E8A-4147-A177-3AD203B41FA5}">
                      <a16:colId xmlns:a16="http://schemas.microsoft.com/office/drawing/2014/main" val="20002"/>
                    </a:ext>
                  </a:extLst>
                </a:gridCol>
              </a:tblGrid>
              <a:tr h="240970">
                <a:tc gridSpan="3">
                  <a:txBody>
                    <a:bodyPr/>
                    <a:lstStyle/>
                    <a:p>
                      <a:pPr marL="457200" lvl="0" indent="-228600" algn="ctr" rtl="0">
                        <a:spcBef>
                          <a:spcPts val="0"/>
                        </a:spcBef>
                        <a:spcAft>
                          <a:spcPts val="0"/>
                        </a:spcAft>
                        <a:buClr>
                          <a:schemeClr val="dk1"/>
                        </a:buClr>
                        <a:buSzPts val="1100"/>
                        <a:buFont typeface="Arial"/>
                        <a:buNone/>
                      </a:pPr>
                      <a:r>
                        <a:rPr lang="en-IN" sz="1700" b="1" dirty="0">
                          <a:solidFill>
                            <a:schemeClr val="dk1"/>
                          </a:solidFill>
                          <a:latin typeface="Times New Roman"/>
                          <a:ea typeface="Times New Roman"/>
                          <a:cs typeface="Times New Roman"/>
                          <a:sym typeface="Times New Roman"/>
                        </a:rPr>
                        <a:t>Explainable AI</a:t>
                      </a:r>
                      <a:endParaRPr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118300">
                <a:tc>
                  <a:txBody>
                    <a:bodyPr/>
                    <a:lstStyle/>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Custom CNN design</a:t>
                      </a: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MobileNetV2 design </a:t>
                      </a: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VGG19 design</a:t>
                      </a: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Experimenting the SHAP library.</a:t>
                      </a:r>
                      <a:endParaRPr sz="1700" dirty="0">
                        <a:solidFill>
                          <a:schemeClr val="dk1"/>
                        </a:solidFill>
                        <a:latin typeface="Times New Roman"/>
                        <a:ea typeface="Times New Roman"/>
                        <a:cs typeface="Times New Roman"/>
                        <a:sym typeface="Times New Roman"/>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ResNet50 design</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VGG16 design</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a:solidFill>
                            <a:schemeClr val="dk1"/>
                          </a:solidFill>
                          <a:latin typeface="Times New Roman"/>
                          <a:ea typeface="Times New Roman"/>
                          <a:cs typeface="Times New Roman"/>
                          <a:sym typeface="Times New Roman"/>
                        </a:rPr>
                        <a:t>Integrating the docker container with the HLF</a:t>
                      </a:r>
                      <a:endParaRPr sz="1700">
                        <a:solidFill>
                          <a:schemeClr val="dk1"/>
                        </a:solidFill>
                        <a:latin typeface="Times New Roman"/>
                        <a:ea typeface="Times New Roman"/>
                        <a:cs typeface="Times New Roman"/>
                        <a:sym typeface="Times New Roman"/>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Data collection</a:t>
                      </a: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Data cleaning</a:t>
                      </a: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Times New Roman"/>
                        <a:buChar char="●"/>
                      </a:pPr>
                      <a:r>
                        <a:rPr lang="en-IN" sz="1700" dirty="0">
                          <a:solidFill>
                            <a:schemeClr val="dk1"/>
                          </a:solidFill>
                          <a:latin typeface="Times New Roman"/>
                          <a:ea typeface="Times New Roman"/>
                          <a:cs typeface="Times New Roman"/>
                          <a:sym typeface="Times New Roman"/>
                        </a:rPr>
                        <a:t>Data Preprocessing</a:t>
                      </a:r>
                      <a:endParaRPr sz="1700" dirty="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700" dirty="0">
                        <a:solidFill>
                          <a:schemeClr val="dk1"/>
                        </a:solidFill>
                        <a:latin typeface="Times New Roman"/>
                        <a:ea typeface="Times New Roman"/>
                        <a:cs typeface="Times New Roman"/>
                        <a:sym typeface="Times New Roman"/>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26165d23a78_0_0"/>
          <p:cNvSpPr txBox="1">
            <a:spLocks noGrp="1"/>
          </p:cNvSpPr>
          <p:nvPr>
            <p:ph type="title"/>
          </p:nvPr>
        </p:nvSpPr>
        <p:spPr>
          <a:xfrm>
            <a:off x="81450" y="502353"/>
            <a:ext cx="12029100" cy="87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400" b="1">
                <a:latin typeface="Times New Roman"/>
                <a:ea typeface="Times New Roman"/>
                <a:cs typeface="Times New Roman"/>
                <a:sym typeface="Times New Roman"/>
              </a:rPr>
              <a:t>Conclusion</a:t>
            </a:r>
            <a:endParaRPr sz="4200" b="1">
              <a:latin typeface="Times New Roman"/>
              <a:ea typeface="Times New Roman"/>
              <a:cs typeface="Times New Roman"/>
              <a:sym typeface="Times New Roman"/>
            </a:endParaRPr>
          </a:p>
        </p:txBody>
      </p:sp>
      <p:sp>
        <p:nvSpPr>
          <p:cNvPr id="224" name="Google Shape;224;g26165d23a78_0_0"/>
          <p:cNvSpPr txBox="1"/>
          <p:nvPr/>
        </p:nvSpPr>
        <p:spPr>
          <a:xfrm>
            <a:off x="472050" y="1378050"/>
            <a:ext cx="11116500" cy="46485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2100"/>
              <a:buFont typeface="Arial"/>
              <a:buNone/>
            </a:pPr>
            <a:r>
              <a:rPr lang="en-IN" sz="2000" b="0" i="0" u="none" strike="noStrike" cap="none">
                <a:solidFill>
                  <a:srgbClr val="000000"/>
                </a:solidFill>
                <a:latin typeface="Times New Roman"/>
                <a:ea typeface="Times New Roman"/>
                <a:cs typeface="Times New Roman"/>
                <a:sym typeface="Times New Roman"/>
              </a:rPr>
              <a:t>     The implementation of Blockchain with Explainable Artificial Intelligence is carried out by storing the data in the blockchain such as storing the image as data URL in the ledger and developing AI models with Ocular dataset. Multiple AI models such as Custom CNN and pre-trained models such as MobileNetV2, VGG16 and ResNet50 are trained with the pre-processed data. The models are evaluated with the test datasets. Local Interpretable Model-agnostic Explanations (LIME) model is used for interpreting the image and it returns the marker to be highlighted in the input image. The hyperparameters of the models were tuned to obtain a valid testing accuracy.</a:t>
            </a: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100"/>
              <a:buFont typeface="Arial"/>
              <a:buNone/>
            </a:pPr>
            <a:r>
              <a:rPr lang="en-IN" sz="2000" b="0" i="0" u="none" strike="noStrike" cap="none">
                <a:solidFill>
                  <a:srgbClr val="000000"/>
                </a:solidFill>
                <a:latin typeface="Times New Roman"/>
                <a:ea typeface="Times New Roman"/>
                <a:cs typeface="Times New Roman"/>
                <a:sym typeface="Times New Roman"/>
              </a:rPr>
              <a:t>      The accuracy of the  models can be improved by parameter tuning process such as reducing the batch size, using different optimizers and also increasing the epochs in training the dataset. The web application is integrated with the XAI outputs which enables the Federated Learning.</a:t>
            </a:r>
            <a:endParaRPr sz="20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29074b0f0c4_1_5"/>
          <p:cNvSpPr txBox="1">
            <a:spLocks noGrp="1"/>
          </p:cNvSpPr>
          <p:nvPr>
            <p:ph type="title"/>
          </p:nvPr>
        </p:nvSpPr>
        <p:spPr>
          <a:xfrm>
            <a:off x="81452" y="9"/>
            <a:ext cx="120291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230" name="Google Shape;230;g29074b0f0c4_1_5"/>
          <p:cNvSpPr txBox="1"/>
          <p:nvPr/>
        </p:nvSpPr>
        <p:spPr>
          <a:xfrm>
            <a:off x="546750" y="1178100"/>
            <a:ext cx="11098500" cy="5679900"/>
          </a:xfrm>
          <a:prstGeom prst="rect">
            <a:avLst/>
          </a:prstGeom>
          <a:noFill/>
          <a:ln>
            <a:noFill/>
          </a:ln>
        </p:spPr>
        <p:txBody>
          <a:bodyPr spcFirstLastPara="1" wrap="square" lIns="91425" tIns="91425" rIns="91425" bIns="91425" anchor="t" anchorCtr="0">
            <a:spAutoFit/>
          </a:bodyPr>
          <a:lstStyle/>
          <a:p>
            <a:pPr marL="457200" marR="0" lvl="0" indent="-336550" algn="just" rtl="0">
              <a:lnSpc>
                <a:spcPct val="100000"/>
              </a:lnSpc>
              <a:spcBef>
                <a:spcPts val="0"/>
              </a:spcBef>
              <a:spcAft>
                <a:spcPts val="0"/>
              </a:spcAft>
              <a:buClr>
                <a:srgbClr val="1B6B0B"/>
              </a:buClr>
              <a:buSzPts val="1700"/>
              <a:buFont typeface="Times New Roman"/>
              <a:buChar char="❖"/>
            </a:pPr>
            <a:r>
              <a:rPr lang="en-IN" sz="1700" b="0" i="0" u="none" strike="noStrike" cap="none">
                <a:solidFill>
                  <a:srgbClr val="1B6B0B"/>
                </a:solidFill>
                <a:latin typeface="Times New Roman"/>
                <a:ea typeface="Times New Roman"/>
                <a:cs typeface="Times New Roman"/>
                <a:sym typeface="Times New Roman"/>
              </a:rPr>
              <a:t>Y. Zhuang, L. R. Sheets, Y. -W. Chen, Z. -Y. Shae, J. J. P. Tsai and C. -R. Shyu, "A Patient-Centric Health Information Exchange Framework Using Blockchain Technology," in IEEE Journal of Biomedical and Health Informatics, vol. 24, no. 8, pp. 2169-2176, Aug. 2020, doi: 10.1109/JBHI.2020.2993072.</a:t>
            </a:r>
            <a:endParaRPr sz="1700" b="0" i="0" u="none" strike="noStrike" cap="none">
              <a:solidFill>
                <a:srgbClr val="1B6B0B"/>
              </a:solidFill>
              <a:latin typeface="Times New Roman"/>
              <a:ea typeface="Times New Roman"/>
              <a:cs typeface="Times New Roman"/>
              <a:sym typeface="Times New Roman"/>
            </a:endParaRPr>
          </a:p>
          <a:p>
            <a:pPr marL="91440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Times New Roman"/>
              <a:ea typeface="Times New Roman"/>
              <a:cs typeface="Times New Roman"/>
              <a:sym typeface="Times New Roman"/>
            </a:endParaRPr>
          </a:p>
          <a:p>
            <a:pPr marL="457200" marR="0" lvl="0" indent="-336550" algn="just" rtl="0">
              <a:lnSpc>
                <a:spcPct val="100000"/>
              </a:lnSpc>
              <a:spcBef>
                <a:spcPts val="0"/>
              </a:spcBef>
              <a:spcAft>
                <a:spcPts val="0"/>
              </a:spcAft>
              <a:buClr>
                <a:schemeClr val="dk1"/>
              </a:buClr>
              <a:buSzPts val="1700"/>
              <a:buFont typeface="Times New Roman"/>
              <a:buChar char="❖"/>
            </a:pPr>
            <a:r>
              <a:rPr lang="en-IN" sz="1700" b="0" i="0" u="none" strike="noStrike" cap="none">
                <a:solidFill>
                  <a:schemeClr val="dk1"/>
                </a:solidFill>
                <a:latin typeface="Times New Roman"/>
                <a:ea typeface="Times New Roman"/>
                <a:cs typeface="Times New Roman"/>
                <a:sym typeface="Times New Roman"/>
              </a:rPr>
              <a:t>A. Shahnaz, U. Qamar and A. Khalid, "Using Blockchain for Electronic Health Records," in IEEE Access, vol. 7, pp. 147782-147795, 2019, doi: 10.1109/ACCESS.2019.2946373.</a:t>
            </a:r>
            <a:endParaRPr sz="1700" b="0" i="0" u="none" strike="noStrike" cap="none">
              <a:solidFill>
                <a:schemeClr val="dk1"/>
              </a:solidFill>
              <a:latin typeface="Times New Roman"/>
              <a:ea typeface="Times New Roman"/>
              <a:cs typeface="Times New Roman"/>
              <a:sym typeface="Times New Roman"/>
            </a:endParaRPr>
          </a:p>
          <a:p>
            <a:pPr marL="91440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Times New Roman"/>
              <a:ea typeface="Times New Roman"/>
              <a:cs typeface="Times New Roman"/>
              <a:sym typeface="Times New Roman"/>
            </a:endParaRPr>
          </a:p>
          <a:p>
            <a:pPr marL="457200" marR="0" lvl="0" indent="-336550" algn="just" rtl="0">
              <a:lnSpc>
                <a:spcPct val="100000"/>
              </a:lnSpc>
              <a:spcBef>
                <a:spcPts val="0"/>
              </a:spcBef>
              <a:spcAft>
                <a:spcPts val="0"/>
              </a:spcAft>
              <a:buClr>
                <a:schemeClr val="dk1"/>
              </a:buClr>
              <a:buSzPts val="1700"/>
              <a:buFont typeface="Times New Roman"/>
              <a:buChar char="❖"/>
            </a:pPr>
            <a:r>
              <a:rPr lang="en-IN" sz="1700" b="0" i="0" u="none" strike="noStrike" cap="none">
                <a:solidFill>
                  <a:schemeClr val="dk1"/>
                </a:solidFill>
                <a:latin typeface="Times New Roman"/>
                <a:ea typeface="Times New Roman"/>
                <a:cs typeface="Times New Roman"/>
                <a:sym typeface="Times New Roman"/>
              </a:rPr>
              <a:t>C. Li, M. Dong, J. Li, G. Xu, X. Chen and K. Ota, "Healthchain: Secure EMRs Management and Trading in Distributed Healthcare Service System," in IEEE Internet of Things Journal, vol. 8, no. 9, pp. 7192-7202, 1 May, 2021, doi: 10.1109/JIOT.2020.3038721.</a:t>
            </a:r>
            <a:endParaRPr sz="1700" b="0" i="0" u="none" strike="noStrike" cap="none">
              <a:solidFill>
                <a:schemeClr val="dk1"/>
              </a:solidFill>
              <a:latin typeface="Times New Roman"/>
              <a:ea typeface="Times New Roman"/>
              <a:cs typeface="Times New Roman"/>
              <a:sym typeface="Times New Roman"/>
            </a:endParaRPr>
          </a:p>
          <a:p>
            <a:pPr marL="91440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Times New Roman"/>
              <a:ea typeface="Times New Roman"/>
              <a:cs typeface="Times New Roman"/>
              <a:sym typeface="Times New Roman"/>
            </a:endParaRPr>
          </a:p>
          <a:p>
            <a:pPr marL="457200" marR="0" lvl="0" indent="-336550" algn="just" rtl="0">
              <a:lnSpc>
                <a:spcPct val="100000"/>
              </a:lnSpc>
              <a:spcBef>
                <a:spcPts val="0"/>
              </a:spcBef>
              <a:spcAft>
                <a:spcPts val="0"/>
              </a:spcAft>
              <a:buClr>
                <a:schemeClr val="dk1"/>
              </a:buClr>
              <a:buSzPts val="1700"/>
              <a:buFont typeface="Times New Roman"/>
              <a:buChar char="❖"/>
            </a:pPr>
            <a:r>
              <a:rPr lang="en-IN" sz="1700" b="0" i="0" u="none" strike="noStrike" cap="none">
                <a:solidFill>
                  <a:schemeClr val="dk1"/>
                </a:solidFill>
                <a:latin typeface="Times New Roman"/>
                <a:ea typeface="Times New Roman"/>
                <a:cs typeface="Times New Roman"/>
                <a:sym typeface="Times New Roman"/>
              </a:rPr>
              <a:t>G. Wu, S. Wang, Z. Ning and B. Zhu, "Privacy-Preserved Electronic Medical Record Exchanging and Sharing: A Blockchain-Based Smart Healthcare System," in IEEE Journal of Biomedical and Health Informatics, vol. 26, no. 5, pp. 1917-1927, May 2022, doi: 10.1109/JBHI.2021.3123643.</a:t>
            </a:r>
            <a:endParaRPr sz="1700" b="0" i="0" u="none" strike="noStrike" cap="none">
              <a:solidFill>
                <a:schemeClr val="dk1"/>
              </a:solidFill>
              <a:latin typeface="Times New Roman"/>
              <a:ea typeface="Times New Roman"/>
              <a:cs typeface="Times New Roman"/>
              <a:sym typeface="Times New Roman"/>
            </a:endParaRPr>
          </a:p>
          <a:p>
            <a:pPr marL="91440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Times New Roman"/>
              <a:ea typeface="Times New Roman"/>
              <a:cs typeface="Times New Roman"/>
              <a:sym typeface="Times New Roman"/>
            </a:endParaRPr>
          </a:p>
          <a:p>
            <a:pPr marL="457200" marR="0" lvl="0" indent="-336550" algn="just" rtl="0">
              <a:lnSpc>
                <a:spcPct val="100000"/>
              </a:lnSpc>
              <a:spcBef>
                <a:spcPts val="0"/>
              </a:spcBef>
              <a:spcAft>
                <a:spcPts val="0"/>
              </a:spcAft>
              <a:buClr>
                <a:schemeClr val="dk1"/>
              </a:buClr>
              <a:buSzPts val="1700"/>
              <a:buFont typeface="Times New Roman"/>
              <a:buChar char="❖"/>
            </a:pPr>
            <a:r>
              <a:rPr lang="en-IN" sz="1700" b="0" i="0" u="none" strike="noStrike" cap="none">
                <a:solidFill>
                  <a:schemeClr val="dk1"/>
                </a:solidFill>
                <a:latin typeface="Times New Roman"/>
                <a:ea typeface="Times New Roman"/>
                <a:cs typeface="Times New Roman"/>
                <a:sym typeface="Times New Roman"/>
              </a:rPr>
              <a:t>M. Wang, Y. Guo, C. Zhang, C. Wang, H. Huang and X. Jia, "MedShare: A Privacy-Preserving Medical Data Sharing System by Using Blockchain," in IEEE Transactions on Services Computing, vol. 16, no. 1, pp. 438-451, 1 Jan.-Feb. 2023, doi: 10.1109/TSC.2021.3114719.</a:t>
            </a:r>
            <a:endParaRPr sz="17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700"/>
              <a:buFont typeface="Arial"/>
              <a:buNone/>
            </a:pPr>
            <a:endParaRPr sz="1700" b="0" i="0" u="none" strike="noStrike" cap="none">
              <a:solidFill>
                <a:srgbClr val="1B6B0B"/>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700"/>
              <a:buFont typeface="Arial"/>
              <a:buNone/>
            </a:pPr>
            <a:endParaRPr sz="1700" b="0" i="0" u="none" strike="noStrike" cap="none">
              <a:solidFill>
                <a:srgbClr val="1B6B0B"/>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700"/>
              <a:buFont typeface="Arial"/>
              <a:buNone/>
            </a:pPr>
            <a:endParaRPr sz="1700" b="0" i="0" u="none" strike="noStrike" cap="none">
              <a:solidFill>
                <a:srgbClr val="1B6B0B"/>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6"/>
          <p:cNvSpPr txBox="1">
            <a:spLocks noGrp="1"/>
          </p:cNvSpPr>
          <p:nvPr>
            <p:ph type="title"/>
          </p:nvPr>
        </p:nvSpPr>
        <p:spPr>
          <a:xfrm>
            <a:off x="162902" y="2672459"/>
            <a:ext cx="120291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5900" b="1">
                <a:latin typeface="Times New Roman"/>
                <a:ea typeface="Times New Roman"/>
                <a:cs typeface="Times New Roman"/>
                <a:sym typeface="Times New Roman"/>
              </a:rPr>
              <a:t>Thank You</a:t>
            </a:r>
            <a:endParaRPr sz="6700"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2026</Words>
  <Application>Microsoft Office PowerPoint</Application>
  <PresentationFormat>Widescreen</PresentationFormat>
  <Paragraphs>302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 IT5712 - PROJECT 1  SELF-SERVICED MEDICAL COMMUNITY WITH BLOCKCHAIN (SMC-BC)</vt:lpstr>
      <vt:lpstr>Introduction &amp; Objectives</vt:lpstr>
      <vt:lpstr>Problem Statement</vt:lpstr>
      <vt:lpstr>    Related Work</vt:lpstr>
      <vt:lpstr>         SMC-BC Architecture</vt:lpstr>
      <vt:lpstr>         Modular Architecture for SMC-BC</vt:lpstr>
      <vt:lpstr>PowerPoint Presentation</vt:lpstr>
      <vt:lpstr>PowerPoint Presentation</vt:lpstr>
      <vt:lpstr>PowerPoint Presentation</vt:lpstr>
      <vt:lpstr>PowerPoint Presentation</vt:lpstr>
      <vt:lpstr>PowerPoint Presentation</vt:lpstr>
      <vt:lpstr>Implementation</vt:lpstr>
      <vt:lpstr>Implementation</vt:lpstr>
      <vt:lpstr>Results</vt:lpstr>
      <vt:lpstr>                                          Evaluation</vt:lpstr>
      <vt:lpstr>  Results</vt:lpstr>
      <vt:lpstr>Results</vt:lpstr>
      <vt:lpstr>Individual Contributions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IT5712 - PROJECT 1  SELF-SERVICED MEDICAL COMMUNITY WITH BLOCKCHAIN (SMC-BC)</dc:title>
  <dc:creator>sandhiya m</dc:creator>
  <cp:lastModifiedBy>sandhiya m</cp:lastModifiedBy>
  <cp:revision>1</cp:revision>
  <dcterms:created xsi:type="dcterms:W3CDTF">2023-08-26T18:32:55Z</dcterms:created>
  <dcterms:modified xsi:type="dcterms:W3CDTF">2024-01-02T17:11:10Z</dcterms:modified>
</cp:coreProperties>
</file>